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</Types>
</file>

<file path=_rels/.rels><?xml version="1.0" encoding="UTF-8" standalone="yes"?>

<Relationships  xmlns="http://schemas.openxmlformats.org/package/2006/relationships">
<Relationship Id="rId3" Type="http://schemas.openxmlformats.org/package/2006/relationships/metadata/core-properties" Target="docProps/core.xml"/>
<Relationship Id="rId4" Type="http://schemas.openxmlformats.org/officeDocument/2006/relationships/extended-properties" Target="docProps/app.xml"/>
<Relationship Id="rId1" Type="http://schemas.openxmlformats.org/officeDocument/2006/relationships/officeDocument" Target="ppt/presentation.xml"/>
<Relationship Id="rId2" Type="http://schemas.openxmlformats.org/package/2006/relationships/metadata/thumbnail" Target="docProps/thumbnail.jpeg"/>
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  <p:sldId id="257" r:id="rId9"/>
    <p:sldId id="258" r:id="rId10"/>
    <p:sldId id="259" r:id="rId11"/>
    <p:sldId id="260" r:id="rId12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
<Relationships  xmlns="http://schemas.openxmlformats.org/package/2006/relationships">
<Relationship Id="rId3" Type="http://schemas.openxmlformats.org/officeDocument/2006/relationships/tags" Target="tags/tag1.xml"/>
<Relationship Id="rId4" Type="http://schemas.openxmlformats.org/officeDocument/2006/relationships/presProps" Target="presProps.xml"/>
<Relationship Id="rId5" Type="http://schemas.openxmlformats.org/officeDocument/2006/relationships/viewProps" Target="viewProps.xml"/>
<Relationship Id="rId6" Type="http://schemas.openxmlformats.org/officeDocument/2006/relationships/theme" Target="theme/theme1.xml"/>
<Relationship Id="rId7" Type="http://schemas.openxmlformats.org/officeDocument/2006/relationships/tableStyles" Target="tableStyles.xml"/>
<Relationship Id="rId1" Type="http://schemas.openxmlformats.org/officeDocument/2006/relationships/slideMaster" Target="slideMasters/slideMaster1.xml"/>
<Relationship Id="rId2" Type="http://schemas.openxmlformats.org/officeDocument/2006/relationships/printerSettings" Target="printerSettings/printerSettings1.bin"/>
<Relationship Id="rId8" Type="http://schemas.openxmlformats.org/officeDocument/2006/relationships/slide" Target="slides/slide1.xml"/>
<Relationship Id="rId9" Type="http://schemas.openxmlformats.org/officeDocument/2006/relationships/slide" Target="slides/slide2.xml"/>
<Relationship Id="rId10" Type="http://schemas.openxmlformats.org/officeDocument/2006/relationships/slide" Target="slides/slide3.xml"/>
<Relationship Id="rId11" Type="http://schemas.openxmlformats.org/officeDocument/2006/relationships/slide" Target="slides/slide4.xml"/>
<Relationship Id="rId12" Type="http://schemas.openxmlformats.org/officeDocument/2006/relationships/slide" Target="slides/slide5.xml"/>
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2.xml"/>
</Relationships>

</file>

<file path=ppt/slides/_rels/slide2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2.xml"/>
</Relationships>

</file>

<file path=ppt/slides/_rels/slide3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2.xml"/>
</Relationships>

</file>

<file path=ppt/slides/_rels/slide4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2.xml"/>
</Relationships>

</file>

<file path=ppt/slides/_rels/slide5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2.xml"/>
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 rot="0">
            <a:off x="0" y="0"/>
            <a:ext cx="9144000" cy="6858000"/>
            <a:chOff x="0" y="0"/>
            <a:chExt cx="9144000" cy="6858000"/>
          </a:xfrm>
        </p:grpSpPr>
        <p:sp>
          <p:nvSpPr>
            <p:cNvPr id="3" name="rc3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rc4"/>
            <p:cNvSpPr/>
            <p:nvPr/>
          </p:nvSpPr>
          <p:spPr>
            <a:xfrm>
              <a:off x="0" y="0"/>
              <a:ext cx="9143999" cy="6858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355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rc5"/>
            <p:cNvSpPr/>
            <p:nvPr/>
          </p:nvSpPr>
          <p:spPr>
            <a:xfrm>
              <a:off x="571818" y="69589"/>
              <a:ext cx="8502592" cy="634058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571818" y="5617600"/>
              <a:ext cx="8502592" cy="0"/>
            </a:xfrm>
            <a:custGeom>
              <a:avLst/>
              <a:pathLst>
                <a:path w="8502592" h="0">
                  <a:moveTo>
                    <a:pt x="0" y="0"/>
                  </a:moveTo>
                  <a:lnTo>
                    <a:pt x="8502592" y="0"/>
                  </a:lnTo>
                  <a:lnTo>
                    <a:pt x="8502592" y="0"/>
                  </a:lnTo>
                </a:path>
              </a:pathLst>
            </a:custGeom>
            <a:ln w="677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571818" y="4032454"/>
              <a:ext cx="8502592" cy="0"/>
            </a:xfrm>
            <a:custGeom>
              <a:avLst/>
              <a:pathLst>
                <a:path w="8502592" h="0">
                  <a:moveTo>
                    <a:pt x="0" y="0"/>
                  </a:moveTo>
                  <a:lnTo>
                    <a:pt x="8502592" y="0"/>
                  </a:lnTo>
                  <a:lnTo>
                    <a:pt x="8502592" y="0"/>
                  </a:lnTo>
                </a:path>
              </a:pathLst>
            </a:custGeom>
            <a:ln w="677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571818" y="2447308"/>
              <a:ext cx="8502592" cy="0"/>
            </a:xfrm>
            <a:custGeom>
              <a:avLst/>
              <a:pathLst>
                <a:path w="8502592" h="0">
                  <a:moveTo>
                    <a:pt x="0" y="0"/>
                  </a:moveTo>
                  <a:lnTo>
                    <a:pt x="8502592" y="0"/>
                  </a:lnTo>
                  <a:lnTo>
                    <a:pt x="8502592" y="0"/>
                  </a:lnTo>
                </a:path>
              </a:pathLst>
            </a:custGeom>
            <a:ln w="677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571818" y="862162"/>
              <a:ext cx="8502592" cy="0"/>
            </a:xfrm>
            <a:custGeom>
              <a:avLst/>
              <a:pathLst>
                <a:path w="8502592" h="0">
                  <a:moveTo>
                    <a:pt x="0" y="0"/>
                  </a:moveTo>
                  <a:lnTo>
                    <a:pt x="8502592" y="0"/>
                  </a:lnTo>
                  <a:lnTo>
                    <a:pt x="8502592" y="0"/>
                  </a:lnTo>
                </a:path>
              </a:pathLst>
            </a:custGeom>
            <a:ln w="677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1634642" y="69589"/>
              <a:ext cx="0" cy="6340585"/>
            </a:xfrm>
            <a:custGeom>
              <a:avLst/>
              <a:pathLst>
                <a:path w="0" h="6340585">
                  <a:moveTo>
                    <a:pt x="0" y="634058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3760290" y="69589"/>
              <a:ext cx="0" cy="6340585"/>
            </a:xfrm>
            <a:custGeom>
              <a:avLst/>
              <a:pathLst>
                <a:path w="0" h="6340585">
                  <a:moveTo>
                    <a:pt x="0" y="634058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5885938" y="69589"/>
              <a:ext cx="0" cy="6340585"/>
            </a:xfrm>
            <a:custGeom>
              <a:avLst/>
              <a:pathLst>
                <a:path w="0" h="6340585">
                  <a:moveTo>
                    <a:pt x="0" y="634058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8011586" y="69589"/>
              <a:ext cx="0" cy="6340585"/>
            </a:xfrm>
            <a:custGeom>
              <a:avLst/>
              <a:pathLst>
                <a:path w="0" h="6340585">
                  <a:moveTo>
                    <a:pt x="0" y="634058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571818" y="6410174"/>
              <a:ext cx="8502592" cy="0"/>
            </a:xfrm>
            <a:custGeom>
              <a:avLst/>
              <a:pathLst>
                <a:path w="8502592" h="0">
                  <a:moveTo>
                    <a:pt x="0" y="0"/>
                  </a:moveTo>
                  <a:lnTo>
                    <a:pt x="8502592" y="0"/>
                  </a:lnTo>
                  <a:lnTo>
                    <a:pt x="8502592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571818" y="4825027"/>
              <a:ext cx="8502592" cy="0"/>
            </a:xfrm>
            <a:custGeom>
              <a:avLst/>
              <a:pathLst>
                <a:path w="8502592" h="0">
                  <a:moveTo>
                    <a:pt x="0" y="0"/>
                  </a:moveTo>
                  <a:lnTo>
                    <a:pt x="8502592" y="0"/>
                  </a:lnTo>
                  <a:lnTo>
                    <a:pt x="8502592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571818" y="3239881"/>
              <a:ext cx="8502592" cy="0"/>
            </a:xfrm>
            <a:custGeom>
              <a:avLst/>
              <a:pathLst>
                <a:path w="8502592" h="0">
                  <a:moveTo>
                    <a:pt x="0" y="0"/>
                  </a:moveTo>
                  <a:lnTo>
                    <a:pt x="8502592" y="0"/>
                  </a:lnTo>
                  <a:lnTo>
                    <a:pt x="8502592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571818" y="1654735"/>
              <a:ext cx="8502592" cy="0"/>
            </a:xfrm>
            <a:custGeom>
              <a:avLst/>
              <a:pathLst>
                <a:path w="8502592" h="0">
                  <a:moveTo>
                    <a:pt x="0" y="0"/>
                  </a:moveTo>
                  <a:lnTo>
                    <a:pt x="8502592" y="0"/>
                  </a:lnTo>
                  <a:lnTo>
                    <a:pt x="8502592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571818" y="69589"/>
              <a:ext cx="8502592" cy="0"/>
            </a:xfrm>
            <a:custGeom>
              <a:avLst/>
              <a:pathLst>
                <a:path w="8502592" h="0">
                  <a:moveTo>
                    <a:pt x="0" y="0"/>
                  </a:moveTo>
                  <a:lnTo>
                    <a:pt x="8502592" y="0"/>
                  </a:lnTo>
                  <a:lnTo>
                    <a:pt x="8502592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571818" y="69589"/>
              <a:ext cx="0" cy="6340585"/>
            </a:xfrm>
            <a:custGeom>
              <a:avLst/>
              <a:pathLst>
                <a:path w="0" h="6340585">
                  <a:moveTo>
                    <a:pt x="0" y="634058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2697466" y="69589"/>
              <a:ext cx="0" cy="6340585"/>
            </a:xfrm>
            <a:custGeom>
              <a:avLst/>
              <a:pathLst>
                <a:path w="0" h="6340585">
                  <a:moveTo>
                    <a:pt x="0" y="634058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4823114" y="69589"/>
              <a:ext cx="0" cy="6340585"/>
            </a:xfrm>
            <a:custGeom>
              <a:avLst/>
              <a:pathLst>
                <a:path w="0" h="6340585">
                  <a:moveTo>
                    <a:pt x="0" y="634058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6948762" y="69589"/>
              <a:ext cx="0" cy="6340585"/>
            </a:xfrm>
            <a:custGeom>
              <a:avLst/>
              <a:pathLst>
                <a:path w="0" h="6340585">
                  <a:moveTo>
                    <a:pt x="0" y="634058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9074410" y="69589"/>
              <a:ext cx="0" cy="6340585"/>
            </a:xfrm>
            <a:custGeom>
              <a:avLst/>
              <a:pathLst>
                <a:path w="0" h="6340585">
                  <a:moveTo>
                    <a:pt x="0" y="634058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571818" y="69589"/>
              <a:ext cx="8502592" cy="6340585"/>
            </a:xfrm>
            <a:custGeom>
              <a:avLst/>
              <a:pathLst>
                <a:path w="8502592" h="6340585">
                  <a:moveTo>
                    <a:pt x="0" y="6340585"/>
                  </a:moveTo>
                  <a:lnTo>
                    <a:pt x="1961542" y="3891332"/>
                  </a:lnTo>
                  <a:lnTo>
                    <a:pt x="4009356" y="1980329"/>
                  </a:lnTo>
                  <a:lnTo>
                    <a:pt x="6187603" y="690251"/>
                  </a:lnTo>
                  <a:lnTo>
                    <a:pt x="8502592" y="0"/>
                  </a:lnTo>
                  <a:lnTo>
                    <a:pt x="8502592" y="0"/>
                  </a:lnTo>
                  <a:lnTo>
                    <a:pt x="8502592" y="0"/>
                  </a:lnTo>
                </a:path>
              </a:pathLst>
            </a:custGeom>
            <a:ln w="13550" cap="flat">
              <a:solidFill>
                <a:srgbClr val="F8766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571818" y="69589"/>
              <a:ext cx="8502592" cy="6340585"/>
            </a:xfrm>
            <a:custGeom>
              <a:avLst/>
              <a:pathLst>
                <a:path w="8502592" h="6340585">
                  <a:moveTo>
                    <a:pt x="0" y="6340585"/>
                  </a:moveTo>
                  <a:lnTo>
                    <a:pt x="1712505" y="3410782"/>
                  </a:lnTo>
                  <a:lnTo>
                    <a:pt x="3826403" y="1436481"/>
                  </a:lnTo>
                  <a:lnTo>
                    <a:pt x="6182241" y="345341"/>
                  </a:lnTo>
                  <a:lnTo>
                    <a:pt x="8502592" y="0"/>
                  </a:lnTo>
                  <a:lnTo>
                    <a:pt x="8502592" y="0"/>
                  </a:lnTo>
                  <a:lnTo>
                    <a:pt x="8502592" y="0"/>
                  </a:lnTo>
                </a:path>
              </a:pathLst>
            </a:custGeom>
            <a:ln w="13550" cap="flat">
              <a:solidFill>
                <a:srgbClr val="7CAE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571818" y="69589"/>
              <a:ext cx="8502592" cy="6340585"/>
            </a:xfrm>
            <a:custGeom>
              <a:avLst/>
              <a:pathLst>
                <a:path w="8502592" h="6340585">
                  <a:moveTo>
                    <a:pt x="0" y="6340585"/>
                  </a:moveTo>
                  <a:lnTo>
                    <a:pt x="2024629" y="4097589"/>
                  </a:lnTo>
                  <a:lnTo>
                    <a:pt x="4041057" y="2212422"/>
                  </a:lnTo>
                  <a:lnTo>
                    <a:pt x="6188549" y="850435"/>
                  </a:lnTo>
                  <a:lnTo>
                    <a:pt x="8502592" y="0"/>
                  </a:lnTo>
                  <a:lnTo>
                    <a:pt x="8502592" y="0"/>
                  </a:lnTo>
                  <a:lnTo>
                    <a:pt x="8502592" y="0"/>
                  </a:lnTo>
                </a:path>
              </a:pathLst>
            </a:custGeom>
            <a:ln w="13550" cap="flat">
              <a:solidFill>
                <a:srgbClr val="00BFC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571818" y="69589"/>
              <a:ext cx="8502592" cy="6340585"/>
            </a:xfrm>
            <a:custGeom>
              <a:avLst/>
              <a:pathLst>
                <a:path w="8502592" h="6340585">
                  <a:moveTo>
                    <a:pt x="0" y="6340585"/>
                  </a:moveTo>
                  <a:lnTo>
                    <a:pt x="1879844" y="3710049"/>
                  </a:lnTo>
                  <a:lnTo>
                    <a:pt x="3955258" y="1699578"/>
                  </a:lnTo>
                  <a:lnTo>
                    <a:pt x="6251952" y="511122"/>
                  </a:lnTo>
                  <a:lnTo>
                    <a:pt x="8502592" y="0"/>
                  </a:lnTo>
                  <a:lnTo>
                    <a:pt x="8502592" y="0"/>
                  </a:lnTo>
                  <a:lnTo>
                    <a:pt x="8502592" y="0"/>
                  </a:lnTo>
                </a:path>
              </a:pathLst>
            </a:custGeom>
            <a:ln w="13550" cap="flat">
              <a:solidFill>
                <a:srgbClr val="C77C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l28"/>
            <p:cNvSpPr/>
            <p:nvPr/>
          </p:nvSpPr>
          <p:spPr>
            <a:xfrm>
              <a:off x="571818" y="69589"/>
              <a:ext cx="8502592" cy="6340585"/>
            </a:xfrm>
            <a:custGeom>
              <a:avLst/>
              <a:pathLst>
                <a:path w="8502592" h="6340585">
                  <a:moveTo>
                    <a:pt x="0" y="6340585"/>
                  </a:moveTo>
                  <a:lnTo>
                    <a:pt x="8502592" y="0"/>
                  </a:lnTo>
                  <a:lnTo>
                    <a:pt x="8502592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29" name="rc29"/>
            <p:cNvSpPr/>
            <p:nvPr/>
          </p:nvSpPr>
          <p:spPr>
            <a:xfrm>
              <a:off x="571818" y="69589"/>
              <a:ext cx="8502592" cy="6340585"/>
            </a:xfrm>
            <a:prstGeom prst="rect">
              <a:avLst/>
            </a:prstGeom>
            <a:ln w="1626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tx30"/>
            <p:cNvSpPr/>
            <p:nvPr/>
          </p:nvSpPr>
          <p:spPr>
            <a:xfrm>
              <a:off x="260471" y="6363128"/>
              <a:ext cx="248716" cy="940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Times New Roman"/>
                  <a:cs typeface="Times New Roman"/>
                </a:rPr>
                <a:t>0.00</a:t>
              </a:r>
            </a:p>
          </p:txBody>
        </p:sp>
        <p:sp>
          <p:nvSpPr>
            <p:cNvPr id="31" name="tx31"/>
            <p:cNvSpPr/>
            <p:nvPr/>
          </p:nvSpPr>
          <p:spPr>
            <a:xfrm>
              <a:off x="260471" y="4777981"/>
              <a:ext cx="248716" cy="940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Times New Roman"/>
                  <a:cs typeface="Times New Roman"/>
                </a:rPr>
                <a:t>0.25</a:t>
              </a:r>
            </a:p>
          </p:txBody>
        </p:sp>
        <p:sp>
          <p:nvSpPr>
            <p:cNvPr id="32" name="tx32"/>
            <p:cNvSpPr/>
            <p:nvPr/>
          </p:nvSpPr>
          <p:spPr>
            <a:xfrm>
              <a:off x="260471" y="3192835"/>
              <a:ext cx="248716" cy="940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Times New Roman"/>
                  <a:cs typeface="Times New Roman"/>
                </a:rPr>
                <a:t>0.50</a:t>
              </a:r>
            </a:p>
          </p:txBody>
        </p:sp>
        <p:sp>
          <p:nvSpPr>
            <p:cNvPr id="33" name="tx33"/>
            <p:cNvSpPr/>
            <p:nvPr/>
          </p:nvSpPr>
          <p:spPr>
            <a:xfrm>
              <a:off x="260471" y="1607689"/>
              <a:ext cx="248716" cy="940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Times New Roman"/>
                  <a:cs typeface="Times New Roman"/>
                </a:rPr>
                <a:t>0.75</a:t>
              </a:r>
            </a:p>
          </p:txBody>
        </p:sp>
        <p:sp>
          <p:nvSpPr>
            <p:cNvPr id="34" name="tx34"/>
            <p:cNvSpPr/>
            <p:nvPr/>
          </p:nvSpPr>
          <p:spPr>
            <a:xfrm>
              <a:off x="260471" y="22543"/>
              <a:ext cx="248716" cy="940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Times New Roman"/>
                  <a:cs typeface="Times New Roman"/>
                </a:rPr>
                <a:t>1.00</a:t>
              </a:r>
            </a:p>
          </p:txBody>
        </p:sp>
        <p:sp>
          <p:nvSpPr>
            <p:cNvPr id="35" name="pl35"/>
            <p:cNvSpPr/>
            <p:nvPr/>
          </p:nvSpPr>
          <p:spPr>
            <a:xfrm>
              <a:off x="537024" y="6410174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l36"/>
            <p:cNvSpPr/>
            <p:nvPr/>
          </p:nvSpPr>
          <p:spPr>
            <a:xfrm>
              <a:off x="537024" y="4825027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" name="pl37"/>
            <p:cNvSpPr/>
            <p:nvPr/>
          </p:nvSpPr>
          <p:spPr>
            <a:xfrm>
              <a:off x="537024" y="3239881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" name="pl38"/>
            <p:cNvSpPr/>
            <p:nvPr/>
          </p:nvSpPr>
          <p:spPr>
            <a:xfrm>
              <a:off x="537024" y="1654735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" name="pl39"/>
            <p:cNvSpPr/>
            <p:nvPr/>
          </p:nvSpPr>
          <p:spPr>
            <a:xfrm>
              <a:off x="537024" y="69589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" name="pl40"/>
            <p:cNvSpPr/>
            <p:nvPr/>
          </p:nvSpPr>
          <p:spPr>
            <a:xfrm>
              <a:off x="571818" y="6410174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" name="pl41"/>
            <p:cNvSpPr/>
            <p:nvPr/>
          </p:nvSpPr>
          <p:spPr>
            <a:xfrm>
              <a:off x="2697466" y="6410174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" name="pl42"/>
            <p:cNvSpPr/>
            <p:nvPr/>
          </p:nvSpPr>
          <p:spPr>
            <a:xfrm>
              <a:off x="4823114" y="6410174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" name="pl43"/>
            <p:cNvSpPr/>
            <p:nvPr/>
          </p:nvSpPr>
          <p:spPr>
            <a:xfrm>
              <a:off x="6948762" y="6410174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" name="pl44"/>
            <p:cNvSpPr/>
            <p:nvPr/>
          </p:nvSpPr>
          <p:spPr>
            <a:xfrm>
              <a:off x="9074410" y="6410174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" name="tx45"/>
            <p:cNvSpPr/>
            <p:nvPr/>
          </p:nvSpPr>
          <p:spPr>
            <a:xfrm>
              <a:off x="447460" y="6472804"/>
              <a:ext cx="248716" cy="940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Times New Roman"/>
                  <a:cs typeface="Times New Roman"/>
                </a:rPr>
                <a:t>0.00</a:t>
              </a:r>
            </a:p>
          </p:txBody>
        </p:sp>
        <p:sp>
          <p:nvSpPr>
            <p:cNvPr id="46" name="tx46"/>
            <p:cNvSpPr/>
            <p:nvPr/>
          </p:nvSpPr>
          <p:spPr>
            <a:xfrm>
              <a:off x="2573108" y="6472804"/>
              <a:ext cx="248716" cy="940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Times New Roman"/>
                  <a:cs typeface="Times New Roman"/>
                </a:rPr>
                <a:t>0.25</a:t>
              </a:r>
            </a:p>
          </p:txBody>
        </p:sp>
        <p:sp>
          <p:nvSpPr>
            <p:cNvPr id="47" name="tx47"/>
            <p:cNvSpPr/>
            <p:nvPr/>
          </p:nvSpPr>
          <p:spPr>
            <a:xfrm>
              <a:off x="4698756" y="6472804"/>
              <a:ext cx="248716" cy="940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Times New Roman"/>
                  <a:cs typeface="Times New Roman"/>
                </a:rPr>
                <a:t>0.50</a:t>
              </a:r>
            </a:p>
          </p:txBody>
        </p:sp>
        <p:sp>
          <p:nvSpPr>
            <p:cNvPr id="48" name="tx48"/>
            <p:cNvSpPr/>
            <p:nvPr/>
          </p:nvSpPr>
          <p:spPr>
            <a:xfrm>
              <a:off x="6824404" y="6472804"/>
              <a:ext cx="248716" cy="940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Times New Roman"/>
                  <a:cs typeface="Times New Roman"/>
                </a:rPr>
                <a:t>0.75</a:t>
              </a:r>
            </a:p>
          </p:txBody>
        </p:sp>
        <p:sp>
          <p:nvSpPr>
            <p:cNvPr id="49" name="tx49"/>
            <p:cNvSpPr/>
            <p:nvPr/>
          </p:nvSpPr>
          <p:spPr>
            <a:xfrm>
              <a:off x="8950052" y="6472804"/>
              <a:ext cx="248716" cy="940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Times New Roman"/>
                  <a:cs typeface="Times New Roman"/>
                </a:rPr>
                <a:t>1.00</a:t>
              </a:r>
            </a:p>
          </p:txBody>
        </p:sp>
        <p:sp>
          <p:nvSpPr>
            <p:cNvPr id="50" name="tx50"/>
            <p:cNvSpPr/>
            <p:nvPr/>
          </p:nvSpPr>
          <p:spPr>
            <a:xfrm>
              <a:off x="4334459" y="6632322"/>
              <a:ext cx="977310" cy="11768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1 - specificity</a:t>
              </a:r>
            </a:p>
          </p:txBody>
        </p:sp>
        <p:sp>
          <p:nvSpPr>
            <p:cNvPr id="51" name="tx51"/>
            <p:cNvSpPr/>
            <p:nvPr/>
          </p:nvSpPr>
          <p:spPr>
            <a:xfrm rot="-5400000">
              <a:off x="-251822" y="3181039"/>
              <a:ext cx="760506" cy="11768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Sensitivity</a:t>
              </a:r>
            </a:p>
          </p:txBody>
        </p:sp>
        <p:sp>
          <p:nvSpPr>
            <p:cNvPr id="52" name="rc52"/>
            <p:cNvSpPr/>
            <p:nvPr/>
          </p:nvSpPr>
          <p:spPr>
            <a:xfrm>
              <a:off x="7217504" y="4633556"/>
              <a:ext cx="1163034" cy="101700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3" name="rc53"/>
            <p:cNvSpPr/>
            <p:nvPr/>
          </p:nvSpPr>
          <p:spPr>
            <a:xfrm>
              <a:off x="7287093" y="4703145"/>
              <a:ext cx="219455" cy="21945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4" name="pl54"/>
            <p:cNvSpPr/>
            <p:nvPr/>
          </p:nvSpPr>
          <p:spPr>
            <a:xfrm>
              <a:off x="7309039" y="4812873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13550" cap="flat">
              <a:solidFill>
                <a:srgbClr val="F8766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" name="rc55"/>
            <p:cNvSpPr/>
            <p:nvPr/>
          </p:nvSpPr>
          <p:spPr>
            <a:xfrm>
              <a:off x="7287093" y="4922601"/>
              <a:ext cx="219455" cy="21945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6" name="pl56"/>
            <p:cNvSpPr/>
            <p:nvPr/>
          </p:nvSpPr>
          <p:spPr>
            <a:xfrm>
              <a:off x="7309039" y="5032329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13550" cap="flat">
              <a:solidFill>
                <a:srgbClr val="7CAE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" name="rc57"/>
            <p:cNvSpPr/>
            <p:nvPr/>
          </p:nvSpPr>
          <p:spPr>
            <a:xfrm>
              <a:off x="7287093" y="5142057"/>
              <a:ext cx="219455" cy="21945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8" name="pl58"/>
            <p:cNvSpPr/>
            <p:nvPr/>
          </p:nvSpPr>
          <p:spPr>
            <a:xfrm>
              <a:off x="7309039" y="5251785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13550" cap="flat">
              <a:solidFill>
                <a:srgbClr val="00BFC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" name="rc59"/>
            <p:cNvSpPr/>
            <p:nvPr/>
          </p:nvSpPr>
          <p:spPr>
            <a:xfrm>
              <a:off x="7287093" y="5361513"/>
              <a:ext cx="219455" cy="21945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0" name="pl60"/>
            <p:cNvSpPr/>
            <p:nvPr/>
          </p:nvSpPr>
          <p:spPr>
            <a:xfrm>
              <a:off x="7309039" y="5471241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13550" cap="flat">
              <a:solidFill>
                <a:srgbClr val="C77C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" name="tx61"/>
            <p:cNvSpPr/>
            <p:nvPr/>
          </p:nvSpPr>
          <p:spPr>
            <a:xfrm>
              <a:off x="7576138" y="4765827"/>
              <a:ext cx="363656" cy="940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+ TyG</a:t>
              </a:r>
            </a:p>
          </p:txBody>
        </p:sp>
        <p:sp>
          <p:nvSpPr>
            <p:cNvPr id="62" name="tx62"/>
            <p:cNvSpPr/>
            <p:nvPr/>
          </p:nvSpPr>
          <p:spPr>
            <a:xfrm>
              <a:off x="7576138" y="4985283"/>
              <a:ext cx="734811" cy="940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+ TyG-ABSI</a:t>
              </a:r>
            </a:p>
          </p:txBody>
        </p:sp>
        <p:sp>
          <p:nvSpPr>
            <p:cNvPr id="63" name="tx63"/>
            <p:cNvSpPr/>
            <p:nvPr/>
          </p:nvSpPr>
          <p:spPr>
            <a:xfrm>
              <a:off x="7576138" y="5204739"/>
              <a:ext cx="336773" cy="940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+ AIP</a:t>
              </a:r>
            </a:p>
          </p:txBody>
        </p:sp>
        <p:sp>
          <p:nvSpPr>
            <p:cNvPr id="64" name="tx64"/>
            <p:cNvSpPr/>
            <p:nvPr/>
          </p:nvSpPr>
          <p:spPr>
            <a:xfrm>
              <a:off x="7576138" y="5424195"/>
              <a:ext cx="684154" cy="940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+ METS-IR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 rot="0">
            <a:off x="0" y="0"/>
            <a:ext cx="9144000" cy="6858000"/>
            <a:chOff x="0" y="0"/>
            <a:chExt cx="9144000" cy="6858000"/>
          </a:xfrm>
        </p:grpSpPr>
        <p:sp>
          <p:nvSpPr>
            <p:cNvPr id="3" name="rc3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rc4"/>
            <p:cNvSpPr/>
            <p:nvPr/>
          </p:nvSpPr>
          <p:spPr>
            <a:xfrm>
              <a:off x="0" y="0"/>
              <a:ext cx="9143999" cy="6858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355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rc5"/>
            <p:cNvSpPr/>
            <p:nvPr/>
          </p:nvSpPr>
          <p:spPr>
            <a:xfrm>
              <a:off x="571818" y="69589"/>
              <a:ext cx="8502592" cy="634058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571818" y="5617600"/>
              <a:ext cx="8502592" cy="0"/>
            </a:xfrm>
            <a:custGeom>
              <a:avLst/>
              <a:pathLst>
                <a:path w="8502592" h="0">
                  <a:moveTo>
                    <a:pt x="0" y="0"/>
                  </a:moveTo>
                  <a:lnTo>
                    <a:pt x="8502592" y="0"/>
                  </a:lnTo>
                  <a:lnTo>
                    <a:pt x="8502592" y="0"/>
                  </a:lnTo>
                </a:path>
              </a:pathLst>
            </a:custGeom>
            <a:ln w="677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571818" y="4032454"/>
              <a:ext cx="8502592" cy="0"/>
            </a:xfrm>
            <a:custGeom>
              <a:avLst/>
              <a:pathLst>
                <a:path w="8502592" h="0">
                  <a:moveTo>
                    <a:pt x="0" y="0"/>
                  </a:moveTo>
                  <a:lnTo>
                    <a:pt x="8502592" y="0"/>
                  </a:lnTo>
                  <a:lnTo>
                    <a:pt x="8502592" y="0"/>
                  </a:lnTo>
                </a:path>
              </a:pathLst>
            </a:custGeom>
            <a:ln w="677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571818" y="2447308"/>
              <a:ext cx="8502592" cy="0"/>
            </a:xfrm>
            <a:custGeom>
              <a:avLst/>
              <a:pathLst>
                <a:path w="8502592" h="0">
                  <a:moveTo>
                    <a:pt x="0" y="0"/>
                  </a:moveTo>
                  <a:lnTo>
                    <a:pt x="8502592" y="0"/>
                  </a:lnTo>
                  <a:lnTo>
                    <a:pt x="8502592" y="0"/>
                  </a:lnTo>
                </a:path>
              </a:pathLst>
            </a:custGeom>
            <a:ln w="677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571818" y="862162"/>
              <a:ext cx="8502592" cy="0"/>
            </a:xfrm>
            <a:custGeom>
              <a:avLst/>
              <a:pathLst>
                <a:path w="8502592" h="0">
                  <a:moveTo>
                    <a:pt x="0" y="0"/>
                  </a:moveTo>
                  <a:lnTo>
                    <a:pt x="8502592" y="0"/>
                  </a:lnTo>
                  <a:lnTo>
                    <a:pt x="8502592" y="0"/>
                  </a:lnTo>
                </a:path>
              </a:pathLst>
            </a:custGeom>
            <a:ln w="677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1634642" y="69589"/>
              <a:ext cx="0" cy="6340585"/>
            </a:xfrm>
            <a:custGeom>
              <a:avLst/>
              <a:pathLst>
                <a:path w="0" h="6340585">
                  <a:moveTo>
                    <a:pt x="0" y="634058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3760290" y="69589"/>
              <a:ext cx="0" cy="6340585"/>
            </a:xfrm>
            <a:custGeom>
              <a:avLst/>
              <a:pathLst>
                <a:path w="0" h="6340585">
                  <a:moveTo>
                    <a:pt x="0" y="634058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5885938" y="69589"/>
              <a:ext cx="0" cy="6340585"/>
            </a:xfrm>
            <a:custGeom>
              <a:avLst/>
              <a:pathLst>
                <a:path w="0" h="6340585">
                  <a:moveTo>
                    <a:pt x="0" y="634058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8011586" y="69589"/>
              <a:ext cx="0" cy="6340585"/>
            </a:xfrm>
            <a:custGeom>
              <a:avLst/>
              <a:pathLst>
                <a:path w="0" h="6340585">
                  <a:moveTo>
                    <a:pt x="0" y="634058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571818" y="6410174"/>
              <a:ext cx="8502592" cy="0"/>
            </a:xfrm>
            <a:custGeom>
              <a:avLst/>
              <a:pathLst>
                <a:path w="8502592" h="0">
                  <a:moveTo>
                    <a:pt x="0" y="0"/>
                  </a:moveTo>
                  <a:lnTo>
                    <a:pt x="8502592" y="0"/>
                  </a:lnTo>
                  <a:lnTo>
                    <a:pt x="8502592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571818" y="4825027"/>
              <a:ext cx="8502592" cy="0"/>
            </a:xfrm>
            <a:custGeom>
              <a:avLst/>
              <a:pathLst>
                <a:path w="8502592" h="0">
                  <a:moveTo>
                    <a:pt x="0" y="0"/>
                  </a:moveTo>
                  <a:lnTo>
                    <a:pt x="8502592" y="0"/>
                  </a:lnTo>
                  <a:lnTo>
                    <a:pt x="8502592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571818" y="3239881"/>
              <a:ext cx="8502592" cy="0"/>
            </a:xfrm>
            <a:custGeom>
              <a:avLst/>
              <a:pathLst>
                <a:path w="8502592" h="0">
                  <a:moveTo>
                    <a:pt x="0" y="0"/>
                  </a:moveTo>
                  <a:lnTo>
                    <a:pt x="8502592" y="0"/>
                  </a:lnTo>
                  <a:lnTo>
                    <a:pt x="8502592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571818" y="1654735"/>
              <a:ext cx="8502592" cy="0"/>
            </a:xfrm>
            <a:custGeom>
              <a:avLst/>
              <a:pathLst>
                <a:path w="8502592" h="0">
                  <a:moveTo>
                    <a:pt x="0" y="0"/>
                  </a:moveTo>
                  <a:lnTo>
                    <a:pt x="8502592" y="0"/>
                  </a:lnTo>
                  <a:lnTo>
                    <a:pt x="8502592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571818" y="69589"/>
              <a:ext cx="8502592" cy="0"/>
            </a:xfrm>
            <a:custGeom>
              <a:avLst/>
              <a:pathLst>
                <a:path w="8502592" h="0">
                  <a:moveTo>
                    <a:pt x="0" y="0"/>
                  </a:moveTo>
                  <a:lnTo>
                    <a:pt x="8502592" y="0"/>
                  </a:lnTo>
                  <a:lnTo>
                    <a:pt x="8502592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571818" y="69589"/>
              <a:ext cx="0" cy="6340585"/>
            </a:xfrm>
            <a:custGeom>
              <a:avLst/>
              <a:pathLst>
                <a:path w="0" h="6340585">
                  <a:moveTo>
                    <a:pt x="0" y="634058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2697466" y="69589"/>
              <a:ext cx="0" cy="6340585"/>
            </a:xfrm>
            <a:custGeom>
              <a:avLst/>
              <a:pathLst>
                <a:path w="0" h="6340585">
                  <a:moveTo>
                    <a:pt x="0" y="634058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4823114" y="69589"/>
              <a:ext cx="0" cy="6340585"/>
            </a:xfrm>
            <a:custGeom>
              <a:avLst/>
              <a:pathLst>
                <a:path w="0" h="6340585">
                  <a:moveTo>
                    <a:pt x="0" y="634058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6948762" y="69589"/>
              <a:ext cx="0" cy="6340585"/>
            </a:xfrm>
            <a:custGeom>
              <a:avLst/>
              <a:pathLst>
                <a:path w="0" h="6340585">
                  <a:moveTo>
                    <a:pt x="0" y="634058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9074410" y="69589"/>
              <a:ext cx="0" cy="6340585"/>
            </a:xfrm>
            <a:custGeom>
              <a:avLst/>
              <a:pathLst>
                <a:path w="0" h="6340585">
                  <a:moveTo>
                    <a:pt x="0" y="634058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571818" y="69589"/>
              <a:ext cx="8502592" cy="6340585"/>
            </a:xfrm>
            <a:custGeom>
              <a:avLst/>
              <a:pathLst>
                <a:path w="8502592" h="6340585">
                  <a:moveTo>
                    <a:pt x="0" y="6340585"/>
                  </a:moveTo>
                  <a:lnTo>
                    <a:pt x="2059079" y="3867457"/>
                  </a:lnTo>
                  <a:lnTo>
                    <a:pt x="4143172" y="1939964"/>
                  </a:lnTo>
                  <a:lnTo>
                    <a:pt x="6283690" y="637924"/>
                  </a:lnTo>
                  <a:lnTo>
                    <a:pt x="8502592" y="0"/>
                  </a:lnTo>
                  <a:lnTo>
                    <a:pt x="8502592" y="0"/>
                  </a:lnTo>
                  <a:lnTo>
                    <a:pt x="8502592" y="0"/>
                  </a:lnTo>
                </a:path>
              </a:pathLst>
            </a:custGeom>
            <a:ln w="13550" cap="flat">
              <a:solidFill>
                <a:srgbClr val="F8766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571818" y="69589"/>
              <a:ext cx="8502592" cy="6340585"/>
            </a:xfrm>
            <a:custGeom>
              <a:avLst/>
              <a:pathLst>
                <a:path w="8502592" h="6340585">
                  <a:moveTo>
                    <a:pt x="0" y="6340585"/>
                  </a:moveTo>
                  <a:lnTo>
                    <a:pt x="1919761" y="3558784"/>
                  </a:lnTo>
                  <a:lnTo>
                    <a:pt x="4066678" y="1547731"/>
                  </a:lnTo>
                  <a:lnTo>
                    <a:pt x="6333280" y="372278"/>
                  </a:lnTo>
                  <a:lnTo>
                    <a:pt x="8502592" y="0"/>
                  </a:lnTo>
                  <a:lnTo>
                    <a:pt x="8502592" y="0"/>
                  </a:lnTo>
                  <a:lnTo>
                    <a:pt x="8502592" y="0"/>
                  </a:lnTo>
                </a:path>
              </a:pathLst>
            </a:custGeom>
            <a:ln w="13550" cap="flat">
              <a:solidFill>
                <a:srgbClr val="7CAE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571818" y="69589"/>
              <a:ext cx="8502592" cy="6340585"/>
            </a:xfrm>
            <a:custGeom>
              <a:avLst/>
              <a:pathLst>
                <a:path w="8502592" h="6340585">
                  <a:moveTo>
                    <a:pt x="0" y="6340585"/>
                  </a:moveTo>
                  <a:lnTo>
                    <a:pt x="2129756" y="4219781"/>
                  </a:lnTo>
                  <a:lnTo>
                    <a:pt x="4183309" y="2322844"/>
                  </a:lnTo>
                  <a:lnTo>
                    <a:pt x="6295905" y="918536"/>
                  </a:lnTo>
                  <a:lnTo>
                    <a:pt x="8502592" y="0"/>
                  </a:lnTo>
                  <a:lnTo>
                    <a:pt x="8502592" y="0"/>
                  </a:lnTo>
                  <a:lnTo>
                    <a:pt x="8502592" y="0"/>
                  </a:lnTo>
                </a:path>
              </a:pathLst>
            </a:custGeom>
            <a:ln w="13550" cap="flat">
              <a:solidFill>
                <a:srgbClr val="00BFC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571818" y="69589"/>
              <a:ext cx="8502592" cy="6340585"/>
            </a:xfrm>
            <a:custGeom>
              <a:avLst/>
              <a:pathLst>
                <a:path w="8502592" h="6340585">
                  <a:moveTo>
                    <a:pt x="0" y="6340585"/>
                  </a:moveTo>
                  <a:lnTo>
                    <a:pt x="2064314" y="3950393"/>
                  </a:lnTo>
                  <a:lnTo>
                    <a:pt x="4187672" y="1938093"/>
                  </a:lnTo>
                  <a:lnTo>
                    <a:pt x="6394213" y="598015"/>
                  </a:lnTo>
                  <a:lnTo>
                    <a:pt x="8502592" y="0"/>
                  </a:lnTo>
                  <a:lnTo>
                    <a:pt x="8502592" y="0"/>
                  </a:lnTo>
                  <a:lnTo>
                    <a:pt x="8502592" y="0"/>
                  </a:lnTo>
                </a:path>
              </a:pathLst>
            </a:custGeom>
            <a:ln w="13550" cap="flat">
              <a:solidFill>
                <a:srgbClr val="C77C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l28"/>
            <p:cNvSpPr/>
            <p:nvPr/>
          </p:nvSpPr>
          <p:spPr>
            <a:xfrm>
              <a:off x="571818" y="69589"/>
              <a:ext cx="8502592" cy="6340585"/>
            </a:xfrm>
            <a:custGeom>
              <a:avLst/>
              <a:pathLst>
                <a:path w="8502592" h="6340585">
                  <a:moveTo>
                    <a:pt x="0" y="6340585"/>
                  </a:moveTo>
                  <a:lnTo>
                    <a:pt x="8502592" y="0"/>
                  </a:lnTo>
                  <a:lnTo>
                    <a:pt x="8502592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29" name="rc29"/>
            <p:cNvSpPr/>
            <p:nvPr/>
          </p:nvSpPr>
          <p:spPr>
            <a:xfrm>
              <a:off x="571818" y="69589"/>
              <a:ext cx="8502592" cy="6340585"/>
            </a:xfrm>
            <a:prstGeom prst="rect">
              <a:avLst/>
            </a:prstGeom>
            <a:ln w="1626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tx30"/>
            <p:cNvSpPr/>
            <p:nvPr/>
          </p:nvSpPr>
          <p:spPr>
            <a:xfrm>
              <a:off x="260471" y="6363128"/>
              <a:ext cx="248716" cy="940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Times New Roman"/>
                  <a:cs typeface="Times New Roman"/>
                </a:rPr>
                <a:t>0.00</a:t>
              </a:r>
            </a:p>
          </p:txBody>
        </p:sp>
        <p:sp>
          <p:nvSpPr>
            <p:cNvPr id="31" name="tx31"/>
            <p:cNvSpPr/>
            <p:nvPr/>
          </p:nvSpPr>
          <p:spPr>
            <a:xfrm>
              <a:off x="260471" y="4777981"/>
              <a:ext cx="248716" cy="940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Times New Roman"/>
                  <a:cs typeface="Times New Roman"/>
                </a:rPr>
                <a:t>0.25</a:t>
              </a:r>
            </a:p>
          </p:txBody>
        </p:sp>
        <p:sp>
          <p:nvSpPr>
            <p:cNvPr id="32" name="tx32"/>
            <p:cNvSpPr/>
            <p:nvPr/>
          </p:nvSpPr>
          <p:spPr>
            <a:xfrm>
              <a:off x="260471" y="3192835"/>
              <a:ext cx="248716" cy="940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Times New Roman"/>
                  <a:cs typeface="Times New Roman"/>
                </a:rPr>
                <a:t>0.50</a:t>
              </a:r>
            </a:p>
          </p:txBody>
        </p:sp>
        <p:sp>
          <p:nvSpPr>
            <p:cNvPr id="33" name="tx33"/>
            <p:cNvSpPr/>
            <p:nvPr/>
          </p:nvSpPr>
          <p:spPr>
            <a:xfrm>
              <a:off x="260471" y="1607689"/>
              <a:ext cx="248716" cy="940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Times New Roman"/>
                  <a:cs typeface="Times New Roman"/>
                </a:rPr>
                <a:t>0.75</a:t>
              </a:r>
            </a:p>
          </p:txBody>
        </p:sp>
        <p:sp>
          <p:nvSpPr>
            <p:cNvPr id="34" name="tx34"/>
            <p:cNvSpPr/>
            <p:nvPr/>
          </p:nvSpPr>
          <p:spPr>
            <a:xfrm>
              <a:off x="260471" y="22543"/>
              <a:ext cx="248716" cy="940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Times New Roman"/>
                  <a:cs typeface="Times New Roman"/>
                </a:rPr>
                <a:t>1.00</a:t>
              </a:r>
            </a:p>
          </p:txBody>
        </p:sp>
        <p:sp>
          <p:nvSpPr>
            <p:cNvPr id="35" name="pl35"/>
            <p:cNvSpPr/>
            <p:nvPr/>
          </p:nvSpPr>
          <p:spPr>
            <a:xfrm>
              <a:off x="537024" y="6410174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l36"/>
            <p:cNvSpPr/>
            <p:nvPr/>
          </p:nvSpPr>
          <p:spPr>
            <a:xfrm>
              <a:off x="537024" y="4825027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" name="pl37"/>
            <p:cNvSpPr/>
            <p:nvPr/>
          </p:nvSpPr>
          <p:spPr>
            <a:xfrm>
              <a:off x="537024" y="3239881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" name="pl38"/>
            <p:cNvSpPr/>
            <p:nvPr/>
          </p:nvSpPr>
          <p:spPr>
            <a:xfrm>
              <a:off x="537024" y="1654735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" name="pl39"/>
            <p:cNvSpPr/>
            <p:nvPr/>
          </p:nvSpPr>
          <p:spPr>
            <a:xfrm>
              <a:off x="537024" y="69589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" name="pl40"/>
            <p:cNvSpPr/>
            <p:nvPr/>
          </p:nvSpPr>
          <p:spPr>
            <a:xfrm>
              <a:off x="571818" y="6410174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" name="pl41"/>
            <p:cNvSpPr/>
            <p:nvPr/>
          </p:nvSpPr>
          <p:spPr>
            <a:xfrm>
              <a:off x="2697466" y="6410174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" name="pl42"/>
            <p:cNvSpPr/>
            <p:nvPr/>
          </p:nvSpPr>
          <p:spPr>
            <a:xfrm>
              <a:off x="4823114" y="6410174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" name="pl43"/>
            <p:cNvSpPr/>
            <p:nvPr/>
          </p:nvSpPr>
          <p:spPr>
            <a:xfrm>
              <a:off x="6948762" y="6410174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" name="pl44"/>
            <p:cNvSpPr/>
            <p:nvPr/>
          </p:nvSpPr>
          <p:spPr>
            <a:xfrm>
              <a:off x="9074410" y="6410174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" name="tx45"/>
            <p:cNvSpPr/>
            <p:nvPr/>
          </p:nvSpPr>
          <p:spPr>
            <a:xfrm>
              <a:off x="447460" y="6472804"/>
              <a:ext cx="248716" cy="940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Times New Roman"/>
                  <a:cs typeface="Times New Roman"/>
                </a:rPr>
                <a:t>0.00</a:t>
              </a:r>
            </a:p>
          </p:txBody>
        </p:sp>
        <p:sp>
          <p:nvSpPr>
            <p:cNvPr id="46" name="tx46"/>
            <p:cNvSpPr/>
            <p:nvPr/>
          </p:nvSpPr>
          <p:spPr>
            <a:xfrm>
              <a:off x="2573108" y="6472804"/>
              <a:ext cx="248716" cy="940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Times New Roman"/>
                  <a:cs typeface="Times New Roman"/>
                </a:rPr>
                <a:t>0.25</a:t>
              </a:r>
            </a:p>
          </p:txBody>
        </p:sp>
        <p:sp>
          <p:nvSpPr>
            <p:cNvPr id="47" name="tx47"/>
            <p:cNvSpPr/>
            <p:nvPr/>
          </p:nvSpPr>
          <p:spPr>
            <a:xfrm>
              <a:off x="4698756" y="6472804"/>
              <a:ext cx="248716" cy="940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Times New Roman"/>
                  <a:cs typeface="Times New Roman"/>
                </a:rPr>
                <a:t>0.50</a:t>
              </a:r>
            </a:p>
          </p:txBody>
        </p:sp>
        <p:sp>
          <p:nvSpPr>
            <p:cNvPr id="48" name="tx48"/>
            <p:cNvSpPr/>
            <p:nvPr/>
          </p:nvSpPr>
          <p:spPr>
            <a:xfrm>
              <a:off x="6824404" y="6472804"/>
              <a:ext cx="248716" cy="940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Times New Roman"/>
                  <a:cs typeface="Times New Roman"/>
                </a:rPr>
                <a:t>0.75</a:t>
              </a:r>
            </a:p>
          </p:txBody>
        </p:sp>
        <p:sp>
          <p:nvSpPr>
            <p:cNvPr id="49" name="tx49"/>
            <p:cNvSpPr/>
            <p:nvPr/>
          </p:nvSpPr>
          <p:spPr>
            <a:xfrm>
              <a:off x="8950052" y="6472804"/>
              <a:ext cx="248716" cy="940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Times New Roman"/>
                  <a:cs typeface="Times New Roman"/>
                </a:rPr>
                <a:t>1.00</a:t>
              </a:r>
            </a:p>
          </p:txBody>
        </p:sp>
        <p:sp>
          <p:nvSpPr>
            <p:cNvPr id="50" name="tx50"/>
            <p:cNvSpPr/>
            <p:nvPr/>
          </p:nvSpPr>
          <p:spPr>
            <a:xfrm>
              <a:off x="4334459" y="6632322"/>
              <a:ext cx="977310" cy="11768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1 - specificity</a:t>
              </a:r>
            </a:p>
          </p:txBody>
        </p:sp>
        <p:sp>
          <p:nvSpPr>
            <p:cNvPr id="51" name="tx51"/>
            <p:cNvSpPr/>
            <p:nvPr/>
          </p:nvSpPr>
          <p:spPr>
            <a:xfrm rot="-5400000">
              <a:off x="-251822" y="3181039"/>
              <a:ext cx="760506" cy="11768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Sensitivity</a:t>
              </a:r>
            </a:p>
          </p:txBody>
        </p:sp>
        <p:sp>
          <p:nvSpPr>
            <p:cNvPr id="52" name="rc52"/>
            <p:cNvSpPr/>
            <p:nvPr/>
          </p:nvSpPr>
          <p:spPr>
            <a:xfrm>
              <a:off x="7217504" y="4633556"/>
              <a:ext cx="1163034" cy="101700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3" name="rc53"/>
            <p:cNvSpPr/>
            <p:nvPr/>
          </p:nvSpPr>
          <p:spPr>
            <a:xfrm>
              <a:off x="7287093" y="4703145"/>
              <a:ext cx="219455" cy="21945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4" name="pl54"/>
            <p:cNvSpPr/>
            <p:nvPr/>
          </p:nvSpPr>
          <p:spPr>
            <a:xfrm>
              <a:off x="7309039" y="4812873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13550" cap="flat">
              <a:solidFill>
                <a:srgbClr val="F8766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" name="rc55"/>
            <p:cNvSpPr/>
            <p:nvPr/>
          </p:nvSpPr>
          <p:spPr>
            <a:xfrm>
              <a:off x="7287093" y="4922601"/>
              <a:ext cx="219455" cy="21945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6" name="pl56"/>
            <p:cNvSpPr/>
            <p:nvPr/>
          </p:nvSpPr>
          <p:spPr>
            <a:xfrm>
              <a:off x="7309039" y="5032329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13550" cap="flat">
              <a:solidFill>
                <a:srgbClr val="7CAE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" name="rc57"/>
            <p:cNvSpPr/>
            <p:nvPr/>
          </p:nvSpPr>
          <p:spPr>
            <a:xfrm>
              <a:off x="7287093" y="5142057"/>
              <a:ext cx="219455" cy="21945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8" name="pl58"/>
            <p:cNvSpPr/>
            <p:nvPr/>
          </p:nvSpPr>
          <p:spPr>
            <a:xfrm>
              <a:off x="7309039" y="5251785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13550" cap="flat">
              <a:solidFill>
                <a:srgbClr val="00BFC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" name="rc59"/>
            <p:cNvSpPr/>
            <p:nvPr/>
          </p:nvSpPr>
          <p:spPr>
            <a:xfrm>
              <a:off x="7287093" y="5361513"/>
              <a:ext cx="219455" cy="21945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0" name="pl60"/>
            <p:cNvSpPr/>
            <p:nvPr/>
          </p:nvSpPr>
          <p:spPr>
            <a:xfrm>
              <a:off x="7309039" y="5471241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13550" cap="flat">
              <a:solidFill>
                <a:srgbClr val="C77C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" name="tx61"/>
            <p:cNvSpPr/>
            <p:nvPr/>
          </p:nvSpPr>
          <p:spPr>
            <a:xfrm>
              <a:off x="7576138" y="4765827"/>
              <a:ext cx="363656" cy="940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+ TyG</a:t>
              </a:r>
            </a:p>
          </p:txBody>
        </p:sp>
        <p:sp>
          <p:nvSpPr>
            <p:cNvPr id="62" name="tx62"/>
            <p:cNvSpPr/>
            <p:nvPr/>
          </p:nvSpPr>
          <p:spPr>
            <a:xfrm>
              <a:off x="7576138" y="4985283"/>
              <a:ext cx="734811" cy="940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+ TyG-ABSI</a:t>
              </a:r>
            </a:p>
          </p:txBody>
        </p:sp>
        <p:sp>
          <p:nvSpPr>
            <p:cNvPr id="63" name="tx63"/>
            <p:cNvSpPr/>
            <p:nvPr/>
          </p:nvSpPr>
          <p:spPr>
            <a:xfrm>
              <a:off x="7576138" y="5204739"/>
              <a:ext cx="336773" cy="940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+ AIP</a:t>
              </a:r>
            </a:p>
          </p:txBody>
        </p:sp>
        <p:sp>
          <p:nvSpPr>
            <p:cNvPr id="64" name="tx64"/>
            <p:cNvSpPr/>
            <p:nvPr/>
          </p:nvSpPr>
          <p:spPr>
            <a:xfrm>
              <a:off x="7576138" y="5424195"/>
              <a:ext cx="684154" cy="940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+ METS-IR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 rot="0">
            <a:off x="0" y="0"/>
            <a:ext cx="9144000" cy="6858000"/>
            <a:chOff x="0" y="0"/>
            <a:chExt cx="9144000" cy="6858000"/>
          </a:xfrm>
        </p:grpSpPr>
        <p:sp>
          <p:nvSpPr>
            <p:cNvPr id="3" name="rc3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rc4"/>
            <p:cNvSpPr/>
            <p:nvPr/>
          </p:nvSpPr>
          <p:spPr>
            <a:xfrm>
              <a:off x="0" y="0"/>
              <a:ext cx="9143999" cy="6858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355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rc5"/>
            <p:cNvSpPr/>
            <p:nvPr/>
          </p:nvSpPr>
          <p:spPr>
            <a:xfrm>
              <a:off x="571818" y="69589"/>
              <a:ext cx="8502592" cy="634058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571818" y="5617600"/>
              <a:ext cx="8502592" cy="0"/>
            </a:xfrm>
            <a:custGeom>
              <a:avLst/>
              <a:pathLst>
                <a:path w="8502592" h="0">
                  <a:moveTo>
                    <a:pt x="0" y="0"/>
                  </a:moveTo>
                  <a:lnTo>
                    <a:pt x="8502592" y="0"/>
                  </a:lnTo>
                  <a:lnTo>
                    <a:pt x="8502592" y="0"/>
                  </a:lnTo>
                </a:path>
              </a:pathLst>
            </a:custGeom>
            <a:ln w="677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571818" y="4032454"/>
              <a:ext cx="8502592" cy="0"/>
            </a:xfrm>
            <a:custGeom>
              <a:avLst/>
              <a:pathLst>
                <a:path w="8502592" h="0">
                  <a:moveTo>
                    <a:pt x="0" y="0"/>
                  </a:moveTo>
                  <a:lnTo>
                    <a:pt x="8502592" y="0"/>
                  </a:lnTo>
                  <a:lnTo>
                    <a:pt x="8502592" y="0"/>
                  </a:lnTo>
                </a:path>
              </a:pathLst>
            </a:custGeom>
            <a:ln w="677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571818" y="2447308"/>
              <a:ext cx="8502592" cy="0"/>
            </a:xfrm>
            <a:custGeom>
              <a:avLst/>
              <a:pathLst>
                <a:path w="8502592" h="0">
                  <a:moveTo>
                    <a:pt x="0" y="0"/>
                  </a:moveTo>
                  <a:lnTo>
                    <a:pt x="8502592" y="0"/>
                  </a:lnTo>
                  <a:lnTo>
                    <a:pt x="8502592" y="0"/>
                  </a:lnTo>
                </a:path>
              </a:pathLst>
            </a:custGeom>
            <a:ln w="677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571818" y="862162"/>
              <a:ext cx="8502592" cy="0"/>
            </a:xfrm>
            <a:custGeom>
              <a:avLst/>
              <a:pathLst>
                <a:path w="8502592" h="0">
                  <a:moveTo>
                    <a:pt x="0" y="0"/>
                  </a:moveTo>
                  <a:lnTo>
                    <a:pt x="8502592" y="0"/>
                  </a:lnTo>
                  <a:lnTo>
                    <a:pt x="8502592" y="0"/>
                  </a:lnTo>
                </a:path>
              </a:pathLst>
            </a:custGeom>
            <a:ln w="677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1634642" y="69589"/>
              <a:ext cx="0" cy="6340585"/>
            </a:xfrm>
            <a:custGeom>
              <a:avLst/>
              <a:pathLst>
                <a:path w="0" h="6340585">
                  <a:moveTo>
                    <a:pt x="0" y="634058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3760290" y="69589"/>
              <a:ext cx="0" cy="6340585"/>
            </a:xfrm>
            <a:custGeom>
              <a:avLst/>
              <a:pathLst>
                <a:path w="0" h="6340585">
                  <a:moveTo>
                    <a:pt x="0" y="634058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5885938" y="69589"/>
              <a:ext cx="0" cy="6340585"/>
            </a:xfrm>
            <a:custGeom>
              <a:avLst/>
              <a:pathLst>
                <a:path w="0" h="6340585">
                  <a:moveTo>
                    <a:pt x="0" y="634058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8011586" y="69589"/>
              <a:ext cx="0" cy="6340585"/>
            </a:xfrm>
            <a:custGeom>
              <a:avLst/>
              <a:pathLst>
                <a:path w="0" h="6340585">
                  <a:moveTo>
                    <a:pt x="0" y="634058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571818" y="6410174"/>
              <a:ext cx="8502592" cy="0"/>
            </a:xfrm>
            <a:custGeom>
              <a:avLst/>
              <a:pathLst>
                <a:path w="8502592" h="0">
                  <a:moveTo>
                    <a:pt x="0" y="0"/>
                  </a:moveTo>
                  <a:lnTo>
                    <a:pt x="8502592" y="0"/>
                  </a:lnTo>
                  <a:lnTo>
                    <a:pt x="8502592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571818" y="4825027"/>
              <a:ext cx="8502592" cy="0"/>
            </a:xfrm>
            <a:custGeom>
              <a:avLst/>
              <a:pathLst>
                <a:path w="8502592" h="0">
                  <a:moveTo>
                    <a:pt x="0" y="0"/>
                  </a:moveTo>
                  <a:lnTo>
                    <a:pt x="8502592" y="0"/>
                  </a:lnTo>
                  <a:lnTo>
                    <a:pt x="8502592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571818" y="3239881"/>
              <a:ext cx="8502592" cy="0"/>
            </a:xfrm>
            <a:custGeom>
              <a:avLst/>
              <a:pathLst>
                <a:path w="8502592" h="0">
                  <a:moveTo>
                    <a:pt x="0" y="0"/>
                  </a:moveTo>
                  <a:lnTo>
                    <a:pt x="8502592" y="0"/>
                  </a:lnTo>
                  <a:lnTo>
                    <a:pt x="8502592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571818" y="1654735"/>
              <a:ext cx="8502592" cy="0"/>
            </a:xfrm>
            <a:custGeom>
              <a:avLst/>
              <a:pathLst>
                <a:path w="8502592" h="0">
                  <a:moveTo>
                    <a:pt x="0" y="0"/>
                  </a:moveTo>
                  <a:lnTo>
                    <a:pt x="8502592" y="0"/>
                  </a:lnTo>
                  <a:lnTo>
                    <a:pt x="8502592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571818" y="69589"/>
              <a:ext cx="8502592" cy="0"/>
            </a:xfrm>
            <a:custGeom>
              <a:avLst/>
              <a:pathLst>
                <a:path w="8502592" h="0">
                  <a:moveTo>
                    <a:pt x="0" y="0"/>
                  </a:moveTo>
                  <a:lnTo>
                    <a:pt x="8502592" y="0"/>
                  </a:lnTo>
                  <a:lnTo>
                    <a:pt x="8502592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571818" y="69589"/>
              <a:ext cx="0" cy="6340585"/>
            </a:xfrm>
            <a:custGeom>
              <a:avLst/>
              <a:pathLst>
                <a:path w="0" h="6340585">
                  <a:moveTo>
                    <a:pt x="0" y="634058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2697466" y="69589"/>
              <a:ext cx="0" cy="6340585"/>
            </a:xfrm>
            <a:custGeom>
              <a:avLst/>
              <a:pathLst>
                <a:path w="0" h="6340585">
                  <a:moveTo>
                    <a:pt x="0" y="634058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4823114" y="69589"/>
              <a:ext cx="0" cy="6340585"/>
            </a:xfrm>
            <a:custGeom>
              <a:avLst/>
              <a:pathLst>
                <a:path w="0" h="6340585">
                  <a:moveTo>
                    <a:pt x="0" y="634058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6948762" y="69589"/>
              <a:ext cx="0" cy="6340585"/>
            </a:xfrm>
            <a:custGeom>
              <a:avLst/>
              <a:pathLst>
                <a:path w="0" h="6340585">
                  <a:moveTo>
                    <a:pt x="0" y="634058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9074410" y="69589"/>
              <a:ext cx="0" cy="6340585"/>
            </a:xfrm>
            <a:custGeom>
              <a:avLst/>
              <a:pathLst>
                <a:path w="0" h="6340585">
                  <a:moveTo>
                    <a:pt x="0" y="634058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571818" y="69589"/>
              <a:ext cx="8502592" cy="6340585"/>
            </a:xfrm>
            <a:custGeom>
              <a:avLst/>
              <a:pathLst>
                <a:path w="8502592" h="6340585">
                  <a:moveTo>
                    <a:pt x="0" y="6340585"/>
                  </a:moveTo>
                  <a:lnTo>
                    <a:pt x="2230061" y="4071529"/>
                  </a:lnTo>
                  <a:lnTo>
                    <a:pt x="4379698" y="2126625"/>
                  </a:lnTo>
                  <a:lnTo>
                    <a:pt x="6465576" y="721972"/>
                  </a:lnTo>
                  <a:lnTo>
                    <a:pt x="8502592" y="0"/>
                  </a:lnTo>
                  <a:lnTo>
                    <a:pt x="8502592" y="0"/>
                  </a:lnTo>
                  <a:lnTo>
                    <a:pt x="8502592" y="0"/>
                  </a:lnTo>
                </a:path>
              </a:pathLst>
            </a:custGeom>
            <a:ln w="13550" cap="flat">
              <a:solidFill>
                <a:srgbClr val="F8766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571818" y="69589"/>
              <a:ext cx="8502592" cy="6340585"/>
            </a:xfrm>
            <a:custGeom>
              <a:avLst/>
              <a:pathLst>
                <a:path w="8502592" h="6340585">
                  <a:moveTo>
                    <a:pt x="0" y="6340585"/>
                  </a:moveTo>
                  <a:lnTo>
                    <a:pt x="2150773" y="3261152"/>
                  </a:lnTo>
                  <a:lnTo>
                    <a:pt x="4375153" y="1443944"/>
                  </a:lnTo>
                  <a:lnTo>
                    <a:pt x="6551809" y="309416"/>
                  </a:lnTo>
                  <a:lnTo>
                    <a:pt x="8502592" y="0"/>
                  </a:lnTo>
                  <a:lnTo>
                    <a:pt x="8502592" y="0"/>
                  </a:lnTo>
                  <a:lnTo>
                    <a:pt x="8502592" y="0"/>
                  </a:lnTo>
                </a:path>
              </a:pathLst>
            </a:custGeom>
            <a:ln w="13550" cap="flat">
              <a:solidFill>
                <a:srgbClr val="7CAE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571818" y="69589"/>
              <a:ext cx="8502592" cy="6340585"/>
            </a:xfrm>
            <a:custGeom>
              <a:avLst/>
              <a:pathLst>
                <a:path w="8502592" h="6340585">
                  <a:moveTo>
                    <a:pt x="0" y="6340585"/>
                  </a:moveTo>
                  <a:lnTo>
                    <a:pt x="2223117" y="4189402"/>
                  </a:lnTo>
                  <a:lnTo>
                    <a:pt x="4337150" y="2131536"/>
                  </a:lnTo>
                  <a:lnTo>
                    <a:pt x="6420881" y="780908"/>
                  </a:lnTo>
                  <a:lnTo>
                    <a:pt x="8502592" y="0"/>
                  </a:lnTo>
                  <a:lnTo>
                    <a:pt x="8502592" y="0"/>
                  </a:lnTo>
                  <a:lnTo>
                    <a:pt x="8502592" y="0"/>
                  </a:lnTo>
                </a:path>
              </a:pathLst>
            </a:custGeom>
            <a:ln w="13550" cap="flat">
              <a:solidFill>
                <a:srgbClr val="00BFC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571818" y="69589"/>
              <a:ext cx="8502592" cy="6340585"/>
            </a:xfrm>
            <a:custGeom>
              <a:avLst/>
              <a:pathLst>
                <a:path w="8502592" h="6340585">
                  <a:moveTo>
                    <a:pt x="0" y="6340585"/>
                  </a:moveTo>
                  <a:lnTo>
                    <a:pt x="2217815" y="4071529"/>
                  </a:lnTo>
                  <a:lnTo>
                    <a:pt x="4413535" y="1925258"/>
                  </a:lnTo>
                  <a:lnTo>
                    <a:pt x="6565444" y="559896"/>
                  </a:lnTo>
                  <a:lnTo>
                    <a:pt x="8502592" y="0"/>
                  </a:lnTo>
                  <a:lnTo>
                    <a:pt x="8502592" y="0"/>
                  </a:lnTo>
                  <a:lnTo>
                    <a:pt x="8502592" y="0"/>
                  </a:lnTo>
                </a:path>
              </a:pathLst>
            </a:custGeom>
            <a:ln w="13550" cap="flat">
              <a:solidFill>
                <a:srgbClr val="C77C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l28"/>
            <p:cNvSpPr/>
            <p:nvPr/>
          </p:nvSpPr>
          <p:spPr>
            <a:xfrm>
              <a:off x="571818" y="69589"/>
              <a:ext cx="8502592" cy="6340585"/>
            </a:xfrm>
            <a:custGeom>
              <a:avLst/>
              <a:pathLst>
                <a:path w="8502592" h="6340585">
                  <a:moveTo>
                    <a:pt x="0" y="6340585"/>
                  </a:moveTo>
                  <a:lnTo>
                    <a:pt x="8502592" y="0"/>
                  </a:lnTo>
                  <a:lnTo>
                    <a:pt x="8502592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29" name="rc29"/>
            <p:cNvSpPr/>
            <p:nvPr/>
          </p:nvSpPr>
          <p:spPr>
            <a:xfrm>
              <a:off x="571818" y="69589"/>
              <a:ext cx="8502592" cy="6340585"/>
            </a:xfrm>
            <a:prstGeom prst="rect">
              <a:avLst/>
            </a:prstGeom>
            <a:ln w="1626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tx30"/>
            <p:cNvSpPr/>
            <p:nvPr/>
          </p:nvSpPr>
          <p:spPr>
            <a:xfrm>
              <a:off x="260471" y="6363128"/>
              <a:ext cx="248716" cy="940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Times New Roman"/>
                  <a:cs typeface="Times New Roman"/>
                </a:rPr>
                <a:t>0.00</a:t>
              </a:r>
            </a:p>
          </p:txBody>
        </p:sp>
        <p:sp>
          <p:nvSpPr>
            <p:cNvPr id="31" name="tx31"/>
            <p:cNvSpPr/>
            <p:nvPr/>
          </p:nvSpPr>
          <p:spPr>
            <a:xfrm>
              <a:off x="260471" y="4777981"/>
              <a:ext cx="248716" cy="940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Times New Roman"/>
                  <a:cs typeface="Times New Roman"/>
                </a:rPr>
                <a:t>0.25</a:t>
              </a:r>
            </a:p>
          </p:txBody>
        </p:sp>
        <p:sp>
          <p:nvSpPr>
            <p:cNvPr id="32" name="tx32"/>
            <p:cNvSpPr/>
            <p:nvPr/>
          </p:nvSpPr>
          <p:spPr>
            <a:xfrm>
              <a:off x="260471" y="3192835"/>
              <a:ext cx="248716" cy="940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Times New Roman"/>
                  <a:cs typeface="Times New Roman"/>
                </a:rPr>
                <a:t>0.50</a:t>
              </a:r>
            </a:p>
          </p:txBody>
        </p:sp>
        <p:sp>
          <p:nvSpPr>
            <p:cNvPr id="33" name="tx33"/>
            <p:cNvSpPr/>
            <p:nvPr/>
          </p:nvSpPr>
          <p:spPr>
            <a:xfrm>
              <a:off x="260471" y="1607689"/>
              <a:ext cx="248716" cy="940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Times New Roman"/>
                  <a:cs typeface="Times New Roman"/>
                </a:rPr>
                <a:t>0.75</a:t>
              </a:r>
            </a:p>
          </p:txBody>
        </p:sp>
        <p:sp>
          <p:nvSpPr>
            <p:cNvPr id="34" name="tx34"/>
            <p:cNvSpPr/>
            <p:nvPr/>
          </p:nvSpPr>
          <p:spPr>
            <a:xfrm>
              <a:off x="260471" y="22543"/>
              <a:ext cx="248716" cy="940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Times New Roman"/>
                  <a:cs typeface="Times New Roman"/>
                </a:rPr>
                <a:t>1.00</a:t>
              </a:r>
            </a:p>
          </p:txBody>
        </p:sp>
        <p:sp>
          <p:nvSpPr>
            <p:cNvPr id="35" name="pl35"/>
            <p:cNvSpPr/>
            <p:nvPr/>
          </p:nvSpPr>
          <p:spPr>
            <a:xfrm>
              <a:off x="537024" y="6410174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l36"/>
            <p:cNvSpPr/>
            <p:nvPr/>
          </p:nvSpPr>
          <p:spPr>
            <a:xfrm>
              <a:off x="537024" y="4825027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" name="pl37"/>
            <p:cNvSpPr/>
            <p:nvPr/>
          </p:nvSpPr>
          <p:spPr>
            <a:xfrm>
              <a:off x="537024" y="3239881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" name="pl38"/>
            <p:cNvSpPr/>
            <p:nvPr/>
          </p:nvSpPr>
          <p:spPr>
            <a:xfrm>
              <a:off x="537024" y="1654735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" name="pl39"/>
            <p:cNvSpPr/>
            <p:nvPr/>
          </p:nvSpPr>
          <p:spPr>
            <a:xfrm>
              <a:off x="537024" y="69589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" name="pl40"/>
            <p:cNvSpPr/>
            <p:nvPr/>
          </p:nvSpPr>
          <p:spPr>
            <a:xfrm>
              <a:off x="571818" y="6410174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" name="pl41"/>
            <p:cNvSpPr/>
            <p:nvPr/>
          </p:nvSpPr>
          <p:spPr>
            <a:xfrm>
              <a:off x="2697466" y="6410174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" name="pl42"/>
            <p:cNvSpPr/>
            <p:nvPr/>
          </p:nvSpPr>
          <p:spPr>
            <a:xfrm>
              <a:off x="4823114" y="6410174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" name="pl43"/>
            <p:cNvSpPr/>
            <p:nvPr/>
          </p:nvSpPr>
          <p:spPr>
            <a:xfrm>
              <a:off x="6948762" y="6410174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" name="pl44"/>
            <p:cNvSpPr/>
            <p:nvPr/>
          </p:nvSpPr>
          <p:spPr>
            <a:xfrm>
              <a:off x="9074410" y="6410174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" name="tx45"/>
            <p:cNvSpPr/>
            <p:nvPr/>
          </p:nvSpPr>
          <p:spPr>
            <a:xfrm>
              <a:off x="447460" y="6472804"/>
              <a:ext cx="248716" cy="940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Times New Roman"/>
                  <a:cs typeface="Times New Roman"/>
                </a:rPr>
                <a:t>0.00</a:t>
              </a:r>
            </a:p>
          </p:txBody>
        </p:sp>
        <p:sp>
          <p:nvSpPr>
            <p:cNvPr id="46" name="tx46"/>
            <p:cNvSpPr/>
            <p:nvPr/>
          </p:nvSpPr>
          <p:spPr>
            <a:xfrm>
              <a:off x="2573108" y="6472804"/>
              <a:ext cx="248716" cy="940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Times New Roman"/>
                  <a:cs typeface="Times New Roman"/>
                </a:rPr>
                <a:t>0.25</a:t>
              </a:r>
            </a:p>
          </p:txBody>
        </p:sp>
        <p:sp>
          <p:nvSpPr>
            <p:cNvPr id="47" name="tx47"/>
            <p:cNvSpPr/>
            <p:nvPr/>
          </p:nvSpPr>
          <p:spPr>
            <a:xfrm>
              <a:off x="4698756" y="6472804"/>
              <a:ext cx="248716" cy="940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Times New Roman"/>
                  <a:cs typeface="Times New Roman"/>
                </a:rPr>
                <a:t>0.50</a:t>
              </a:r>
            </a:p>
          </p:txBody>
        </p:sp>
        <p:sp>
          <p:nvSpPr>
            <p:cNvPr id="48" name="tx48"/>
            <p:cNvSpPr/>
            <p:nvPr/>
          </p:nvSpPr>
          <p:spPr>
            <a:xfrm>
              <a:off x="6824404" y="6472804"/>
              <a:ext cx="248716" cy="940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Times New Roman"/>
                  <a:cs typeface="Times New Roman"/>
                </a:rPr>
                <a:t>0.75</a:t>
              </a:r>
            </a:p>
          </p:txBody>
        </p:sp>
        <p:sp>
          <p:nvSpPr>
            <p:cNvPr id="49" name="tx49"/>
            <p:cNvSpPr/>
            <p:nvPr/>
          </p:nvSpPr>
          <p:spPr>
            <a:xfrm>
              <a:off x="8950052" y="6472804"/>
              <a:ext cx="248716" cy="940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Times New Roman"/>
                  <a:cs typeface="Times New Roman"/>
                </a:rPr>
                <a:t>1.00</a:t>
              </a:r>
            </a:p>
          </p:txBody>
        </p:sp>
        <p:sp>
          <p:nvSpPr>
            <p:cNvPr id="50" name="tx50"/>
            <p:cNvSpPr/>
            <p:nvPr/>
          </p:nvSpPr>
          <p:spPr>
            <a:xfrm>
              <a:off x="4334459" y="6632322"/>
              <a:ext cx="977310" cy="11768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1 - specificity</a:t>
              </a:r>
            </a:p>
          </p:txBody>
        </p:sp>
        <p:sp>
          <p:nvSpPr>
            <p:cNvPr id="51" name="tx51"/>
            <p:cNvSpPr/>
            <p:nvPr/>
          </p:nvSpPr>
          <p:spPr>
            <a:xfrm rot="-5400000">
              <a:off x="-251822" y="3181039"/>
              <a:ext cx="760506" cy="11768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Sensitivity</a:t>
              </a:r>
            </a:p>
          </p:txBody>
        </p:sp>
        <p:sp>
          <p:nvSpPr>
            <p:cNvPr id="52" name="rc52"/>
            <p:cNvSpPr/>
            <p:nvPr/>
          </p:nvSpPr>
          <p:spPr>
            <a:xfrm>
              <a:off x="7217504" y="4633556"/>
              <a:ext cx="1163034" cy="101700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3" name="rc53"/>
            <p:cNvSpPr/>
            <p:nvPr/>
          </p:nvSpPr>
          <p:spPr>
            <a:xfrm>
              <a:off x="7287093" y="4703145"/>
              <a:ext cx="219455" cy="21945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4" name="pl54"/>
            <p:cNvSpPr/>
            <p:nvPr/>
          </p:nvSpPr>
          <p:spPr>
            <a:xfrm>
              <a:off x="7309039" y="4812873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13550" cap="flat">
              <a:solidFill>
                <a:srgbClr val="F8766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" name="rc55"/>
            <p:cNvSpPr/>
            <p:nvPr/>
          </p:nvSpPr>
          <p:spPr>
            <a:xfrm>
              <a:off x="7287093" y="4922601"/>
              <a:ext cx="219455" cy="21945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6" name="pl56"/>
            <p:cNvSpPr/>
            <p:nvPr/>
          </p:nvSpPr>
          <p:spPr>
            <a:xfrm>
              <a:off x="7309039" y="5032329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13550" cap="flat">
              <a:solidFill>
                <a:srgbClr val="7CAE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" name="rc57"/>
            <p:cNvSpPr/>
            <p:nvPr/>
          </p:nvSpPr>
          <p:spPr>
            <a:xfrm>
              <a:off x="7287093" y="5142057"/>
              <a:ext cx="219455" cy="21945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8" name="pl58"/>
            <p:cNvSpPr/>
            <p:nvPr/>
          </p:nvSpPr>
          <p:spPr>
            <a:xfrm>
              <a:off x="7309039" y="5251785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13550" cap="flat">
              <a:solidFill>
                <a:srgbClr val="00BFC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" name="rc59"/>
            <p:cNvSpPr/>
            <p:nvPr/>
          </p:nvSpPr>
          <p:spPr>
            <a:xfrm>
              <a:off x="7287093" y="5361513"/>
              <a:ext cx="219455" cy="21945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0" name="pl60"/>
            <p:cNvSpPr/>
            <p:nvPr/>
          </p:nvSpPr>
          <p:spPr>
            <a:xfrm>
              <a:off x="7309039" y="5471241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13550" cap="flat">
              <a:solidFill>
                <a:srgbClr val="C77C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" name="tx61"/>
            <p:cNvSpPr/>
            <p:nvPr/>
          </p:nvSpPr>
          <p:spPr>
            <a:xfrm>
              <a:off x="7576138" y="4765827"/>
              <a:ext cx="363656" cy="940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+ TyG</a:t>
              </a:r>
            </a:p>
          </p:txBody>
        </p:sp>
        <p:sp>
          <p:nvSpPr>
            <p:cNvPr id="62" name="tx62"/>
            <p:cNvSpPr/>
            <p:nvPr/>
          </p:nvSpPr>
          <p:spPr>
            <a:xfrm>
              <a:off x="7576138" y="4985283"/>
              <a:ext cx="734811" cy="940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+ TyG-ABSI</a:t>
              </a:r>
            </a:p>
          </p:txBody>
        </p:sp>
        <p:sp>
          <p:nvSpPr>
            <p:cNvPr id="63" name="tx63"/>
            <p:cNvSpPr/>
            <p:nvPr/>
          </p:nvSpPr>
          <p:spPr>
            <a:xfrm>
              <a:off x="7576138" y="5204739"/>
              <a:ext cx="336773" cy="940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+ AIP</a:t>
              </a:r>
            </a:p>
          </p:txBody>
        </p:sp>
        <p:sp>
          <p:nvSpPr>
            <p:cNvPr id="64" name="tx64"/>
            <p:cNvSpPr/>
            <p:nvPr/>
          </p:nvSpPr>
          <p:spPr>
            <a:xfrm>
              <a:off x="7576138" y="5424195"/>
              <a:ext cx="684154" cy="940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+ METS-IR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 rot="0">
            <a:off x="0" y="0"/>
            <a:ext cx="9144000" cy="6858000"/>
            <a:chOff x="0" y="0"/>
            <a:chExt cx="9144000" cy="6858000"/>
          </a:xfrm>
        </p:grpSpPr>
        <p:sp>
          <p:nvSpPr>
            <p:cNvPr id="3" name="rc3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rc4"/>
            <p:cNvSpPr/>
            <p:nvPr/>
          </p:nvSpPr>
          <p:spPr>
            <a:xfrm>
              <a:off x="0" y="0"/>
              <a:ext cx="9143999" cy="6858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355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rc5"/>
            <p:cNvSpPr/>
            <p:nvPr/>
          </p:nvSpPr>
          <p:spPr>
            <a:xfrm>
              <a:off x="571818" y="69589"/>
              <a:ext cx="8502592" cy="634058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571818" y="5617600"/>
              <a:ext cx="8502592" cy="0"/>
            </a:xfrm>
            <a:custGeom>
              <a:avLst/>
              <a:pathLst>
                <a:path w="8502592" h="0">
                  <a:moveTo>
                    <a:pt x="0" y="0"/>
                  </a:moveTo>
                  <a:lnTo>
                    <a:pt x="8502592" y="0"/>
                  </a:lnTo>
                  <a:lnTo>
                    <a:pt x="8502592" y="0"/>
                  </a:lnTo>
                </a:path>
              </a:pathLst>
            </a:custGeom>
            <a:ln w="677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571818" y="4032454"/>
              <a:ext cx="8502592" cy="0"/>
            </a:xfrm>
            <a:custGeom>
              <a:avLst/>
              <a:pathLst>
                <a:path w="8502592" h="0">
                  <a:moveTo>
                    <a:pt x="0" y="0"/>
                  </a:moveTo>
                  <a:lnTo>
                    <a:pt x="8502592" y="0"/>
                  </a:lnTo>
                  <a:lnTo>
                    <a:pt x="8502592" y="0"/>
                  </a:lnTo>
                </a:path>
              </a:pathLst>
            </a:custGeom>
            <a:ln w="677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571818" y="2447308"/>
              <a:ext cx="8502592" cy="0"/>
            </a:xfrm>
            <a:custGeom>
              <a:avLst/>
              <a:pathLst>
                <a:path w="8502592" h="0">
                  <a:moveTo>
                    <a:pt x="0" y="0"/>
                  </a:moveTo>
                  <a:lnTo>
                    <a:pt x="8502592" y="0"/>
                  </a:lnTo>
                  <a:lnTo>
                    <a:pt x="8502592" y="0"/>
                  </a:lnTo>
                </a:path>
              </a:pathLst>
            </a:custGeom>
            <a:ln w="677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571818" y="862162"/>
              <a:ext cx="8502592" cy="0"/>
            </a:xfrm>
            <a:custGeom>
              <a:avLst/>
              <a:pathLst>
                <a:path w="8502592" h="0">
                  <a:moveTo>
                    <a:pt x="0" y="0"/>
                  </a:moveTo>
                  <a:lnTo>
                    <a:pt x="8502592" y="0"/>
                  </a:lnTo>
                  <a:lnTo>
                    <a:pt x="8502592" y="0"/>
                  </a:lnTo>
                </a:path>
              </a:pathLst>
            </a:custGeom>
            <a:ln w="677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1634642" y="69589"/>
              <a:ext cx="0" cy="6340585"/>
            </a:xfrm>
            <a:custGeom>
              <a:avLst/>
              <a:pathLst>
                <a:path w="0" h="6340585">
                  <a:moveTo>
                    <a:pt x="0" y="634058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3760290" y="69589"/>
              <a:ext cx="0" cy="6340585"/>
            </a:xfrm>
            <a:custGeom>
              <a:avLst/>
              <a:pathLst>
                <a:path w="0" h="6340585">
                  <a:moveTo>
                    <a:pt x="0" y="634058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5885938" y="69589"/>
              <a:ext cx="0" cy="6340585"/>
            </a:xfrm>
            <a:custGeom>
              <a:avLst/>
              <a:pathLst>
                <a:path w="0" h="6340585">
                  <a:moveTo>
                    <a:pt x="0" y="634058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8011586" y="69589"/>
              <a:ext cx="0" cy="6340585"/>
            </a:xfrm>
            <a:custGeom>
              <a:avLst/>
              <a:pathLst>
                <a:path w="0" h="6340585">
                  <a:moveTo>
                    <a:pt x="0" y="634058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571818" y="6410174"/>
              <a:ext cx="8502592" cy="0"/>
            </a:xfrm>
            <a:custGeom>
              <a:avLst/>
              <a:pathLst>
                <a:path w="8502592" h="0">
                  <a:moveTo>
                    <a:pt x="0" y="0"/>
                  </a:moveTo>
                  <a:lnTo>
                    <a:pt x="8502592" y="0"/>
                  </a:lnTo>
                  <a:lnTo>
                    <a:pt x="8502592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571818" y="4825027"/>
              <a:ext cx="8502592" cy="0"/>
            </a:xfrm>
            <a:custGeom>
              <a:avLst/>
              <a:pathLst>
                <a:path w="8502592" h="0">
                  <a:moveTo>
                    <a:pt x="0" y="0"/>
                  </a:moveTo>
                  <a:lnTo>
                    <a:pt x="8502592" y="0"/>
                  </a:lnTo>
                  <a:lnTo>
                    <a:pt x="8502592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571818" y="3239881"/>
              <a:ext cx="8502592" cy="0"/>
            </a:xfrm>
            <a:custGeom>
              <a:avLst/>
              <a:pathLst>
                <a:path w="8502592" h="0">
                  <a:moveTo>
                    <a:pt x="0" y="0"/>
                  </a:moveTo>
                  <a:lnTo>
                    <a:pt x="8502592" y="0"/>
                  </a:lnTo>
                  <a:lnTo>
                    <a:pt x="8502592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571818" y="1654735"/>
              <a:ext cx="8502592" cy="0"/>
            </a:xfrm>
            <a:custGeom>
              <a:avLst/>
              <a:pathLst>
                <a:path w="8502592" h="0">
                  <a:moveTo>
                    <a:pt x="0" y="0"/>
                  </a:moveTo>
                  <a:lnTo>
                    <a:pt x="8502592" y="0"/>
                  </a:lnTo>
                  <a:lnTo>
                    <a:pt x="8502592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571818" y="69589"/>
              <a:ext cx="8502592" cy="0"/>
            </a:xfrm>
            <a:custGeom>
              <a:avLst/>
              <a:pathLst>
                <a:path w="8502592" h="0">
                  <a:moveTo>
                    <a:pt x="0" y="0"/>
                  </a:moveTo>
                  <a:lnTo>
                    <a:pt x="8502592" y="0"/>
                  </a:lnTo>
                  <a:lnTo>
                    <a:pt x="8502592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571818" y="69589"/>
              <a:ext cx="0" cy="6340585"/>
            </a:xfrm>
            <a:custGeom>
              <a:avLst/>
              <a:pathLst>
                <a:path w="0" h="6340585">
                  <a:moveTo>
                    <a:pt x="0" y="634058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2697466" y="69589"/>
              <a:ext cx="0" cy="6340585"/>
            </a:xfrm>
            <a:custGeom>
              <a:avLst/>
              <a:pathLst>
                <a:path w="0" h="6340585">
                  <a:moveTo>
                    <a:pt x="0" y="634058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4823114" y="69589"/>
              <a:ext cx="0" cy="6340585"/>
            </a:xfrm>
            <a:custGeom>
              <a:avLst/>
              <a:pathLst>
                <a:path w="0" h="6340585">
                  <a:moveTo>
                    <a:pt x="0" y="634058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6948762" y="69589"/>
              <a:ext cx="0" cy="6340585"/>
            </a:xfrm>
            <a:custGeom>
              <a:avLst/>
              <a:pathLst>
                <a:path w="0" h="6340585">
                  <a:moveTo>
                    <a:pt x="0" y="634058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9074410" y="69589"/>
              <a:ext cx="0" cy="6340585"/>
            </a:xfrm>
            <a:custGeom>
              <a:avLst/>
              <a:pathLst>
                <a:path w="0" h="6340585">
                  <a:moveTo>
                    <a:pt x="0" y="634058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571818" y="69589"/>
              <a:ext cx="8502592" cy="6340585"/>
            </a:xfrm>
            <a:custGeom>
              <a:avLst/>
              <a:pathLst>
                <a:path w="8502592" h="6340585">
                  <a:moveTo>
                    <a:pt x="0" y="6340585"/>
                  </a:moveTo>
                  <a:lnTo>
                    <a:pt x="2238998" y="4160697"/>
                  </a:lnTo>
                  <a:lnTo>
                    <a:pt x="4394469" y="2329194"/>
                  </a:lnTo>
                  <a:lnTo>
                    <a:pt x="6477290" y="836121"/>
                  </a:lnTo>
                  <a:lnTo>
                    <a:pt x="8502592" y="0"/>
                  </a:lnTo>
                  <a:lnTo>
                    <a:pt x="8502592" y="0"/>
                  </a:lnTo>
                  <a:lnTo>
                    <a:pt x="8502592" y="0"/>
                  </a:lnTo>
                </a:path>
              </a:pathLst>
            </a:custGeom>
            <a:ln w="13550" cap="flat">
              <a:solidFill>
                <a:srgbClr val="F8766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571818" y="69589"/>
              <a:ext cx="8502592" cy="6340585"/>
            </a:xfrm>
            <a:custGeom>
              <a:avLst/>
              <a:pathLst>
                <a:path w="8502592" h="6340585">
                  <a:moveTo>
                    <a:pt x="0" y="6340585"/>
                  </a:moveTo>
                  <a:lnTo>
                    <a:pt x="2170225" y="3294715"/>
                  </a:lnTo>
                  <a:lnTo>
                    <a:pt x="4395344" y="1373627"/>
                  </a:lnTo>
                  <a:lnTo>
                    <a:pt x="6565569" y="228937"/>
                  </a:lnTo>
                  <a:lnTo>
                    <a:pt x="8502592" y="0"/>
                  </a:lnTo>
                  <a:lnTo>
                    <a:pt x="8502592" y="0"/>
                  </a:lnTo>
                  <a:lnTo>
                    <a:pt x="8502592" y="0"/>
                  </a:lnTo>
                </a:path>
              </a:pathLst>
            </a:custGeom>
            <a:ln w="13550" cap="flat">
              <a:solidFill>
                <a:srgbClr val="7CAE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571818" y="69589"/>
              <a:ext cx="8502592" cy="6340585"/>
            </a:xfrm>
            <a:custGeom>
              <a:avLst/>
              <a:pathLst>
                <a:path w="8502592" h="6340585">
                  <a:moveTo>
                    <a:pt x="0" y="6340585"/>
                  </a:moveTo>
                  <a:lnTo>
                    <a:pt x="2229495" y="4190559"/>
                  </a:lnTo>
                  <a:lnTo>
                    <a:pt x="4352204" y="2329194"/>
                  </a:lnTo>
                  <a:lnTo>
                    <a:pt x="6431525" y="836121"/>
                  </a:lnTo>
                  <a:lnTo>
                    <a:pt x="8502592" y="0"/>
                  </a:lnTo>
                  <a:lnTo>
                    <a:pt x="8502592" y="0"/>
                  </a:lnTo>
                  <a:lnTo>
                    <a:pt x="8502592" y="0"/>
                  </a:lnTo>
                </a:path>
              </a:pathLst>
            </a:custGeom>
            <a:ln w="13550" cap="flat">
              <a:solidFill>
                <a:srgbClr val="00BFC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571818" y="69589"/>
              <a:ext cx="8502592" cy="6340585"/>
            </a:xfrm>
            <a:custGeom>
              <a:avLst/>
              <a:pathLst>
                <a:path w="8502592" h="6340585">
                  <a:moveTo>
                    <a:pt x="0" y="6340585"/>
                  </a:moveTo>
                  <a:lnTo>
                    <a:pt x="2223118" y="3862083"/>
                  </a:lnTo>
                  <a:lnTo>
                    <a:pt x="4426229" y="1781734"/>
                  </a:lnTo>
                  <a:lnTo>
                    <a:pt x="6575698" y="467829"/>
                  </a:lnTo>
                  <a:lnTo>
                    <a:pt x="8502592" y="0"/>
                  </a:lnTo>
                  <a:lnTo>
                    <a:pt x="8502592" y="0"/>
                  </a:lnTo>
                  <a:lnTo>
                    <a:pt x="8502592" y="0"/>
                  </a:lnTo>
                </a:path>
              </a:pathLst>
            </a:custGeom>
            <a:ln w="13550" cap="flat">
              <a:solidFill>
                <a:srgbClr val="C77C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l28"/>
            <p:cNvSpPr/>
            <p:nvPr/>
          </p:nvSpPr>
          <p:spPr>
            <a:xfrm>
              <a:off x="571818" y="69589"/>
              <a:ext cx="8502592" cy="6340585"/>
            </a:xfrm>
            <a:custGeom>
              <a:avLst/>
              <a:pathLst>
                <a:path w="8502592" h="6340585">
                  <a:moveTo>
                    <a:pt x="0" y="6340585"/>
                  </a:moveTo>
                  <a:lnTo>
                    <a:pt x="8502592" y="0"/>
                  </a:lnTo>
                  <a:lnTo>
                    <a:pt x="8502592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29" name="rc29"/>
            <p:cNvSpPr/>
            <p:nvPr/>
          </p:nvSpPr>
          <p:spPr>
            <a:xfrm>
              <a:off x="571818" y="69589"/>
              <a:ext cx="8502592" cy="6340585"/>
            </a:xfrm>
            <a:prstGeom prst="rect">
              <a:avLst/>
            </a:prstGeom>
            <a:ln w="1626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tx30"/>
            <p:cNvSpPr/>
            <p:nvPr/>
          </p:nvSpPr>
          <p:spPr>
            <a:xfrm>
              <a:off x="260471" y="6363128"/>
              <a:ext cx="248716" cy="940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Times New Roman"/>
                  <a:cs typeface="Times New Roman"/>
                </a:rPr>
                <a:t>0.00</a:t>
              </a:r>
            </a:p>
          </p:txBody>
        </p:sp>
        <p:sp>
          <p:nvSpPr>
            <p:cNvPr id="31" name="tx31"/>
            <p:cNvSpPr/>
            <p:nvPr/>
          </p:nvSpPr>
          <p:spPr>
            <a:xfrm>
              <a:off x="260471" y="4777981"/>
              <a:ext cx="248716" cy="940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Times New Roman"/>
                  <a:cs typeface="Times New Roman"/>
                </a:rPr>
                <a:t>0.25</a:t>
              </a:r>
            </a:p>
          </p:txBody>
        </p:sp>
        <p:sp>
          <p:nvSpPr>
            <p:cNvPr id="32" name="tx32"/>
            <p:cNvSpPr/>
            <p:nvPr/>
          </p:nvSpPr>
          <p:spPr>
            <a:xfrm>
              <a:off x="260471" y="3192835"/>
              <a:ext cx="248716" cy="940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Times New Roman"/>
                  <a:cs typeface="Times New Roman"/>
                </a:rPr>
                <a:t>0.50</a:t>
              </a:r>
            </a:p>
          </p:txBody>
        </p:sp>
        <p:sp>
          <p:nvSpPr>
            <p:cNvPr id="33" name="tx33"/>
            <p:cNvSpPr/>
            <p:nvPr/>
          </p:nvSpPr>
          <p:spPr>
            <a:xfrm>
              <a:off x="260471" y="1607689"/>
              <a:ext cx="248716" cy="940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Times New Roman"/>
                  <a:cs typeface="Times New Roman"/>
                </a:rPr>
                <a:t>0.75</a:t>
              </a:r>
            </a:p>
          </p:txBody>
        </p:sp>
        <p:sp>
          <p:nvSpPr>
            <p:cNvPr id="34" name="tx34"/>
            <p:cNvSpPr/>
            <p:nvPr/>
          </p:nvSpPr>
          <p:spPr>
            <a:xfrm>
              <a:off x="260471" y="22543"/>
              <a:ext cx="248716" cy="940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Times New Roman"/>
                  <a:cs typeface="Times New Roman"/>
                </a:rPr>
                <a:t>1.00</a:t>
              </a:r>
            </a:p>
          </p:txBody>
        </p:sp>
        <p:sp>
          <p:nvSpPr>
            <p:cNvPr id="35" name="pl35"/>
            <p:cNvSpPr/>
            <p:nvPr/>
          </p:nvSpPr>
          <p:spPr>
            <a:xfrm>
              <a:off x="537024" y="6410174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l36"/>
            <p:cNvSpPr/>
            <p:nvPr/>
          </p:nvSpPr>
          <p:spPr>
            <a:xfrm>
              <a:off x="537024" y="4825027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" name="pl37"/>
            <p:cNvSpPr/>
            <p:nvPr/>
          </p:nvSpPr>
          <p:spPr>
            <a:xfrm>
              <a:off x="537024" y="3239881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" name="pl38"/>
            <p:cNvSpPr/>
            <p:nvPr/>
          </p:nvSpPr>
          <p:spPr>
            <a:xfrm>
              <a:off x="537024" y="1654735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" name="pl39"/>
            <p:cNvSpPr/>
            <p:nvPr/>
          </p:nvSpPr>
          <p:spPr>
            <a:xfrm>
              <a:off x="537024" y="69589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" name="pl40"/>
            <p:cNvSpPr/>
            <p:nvPr/>
          </p:nvSpPr>
          <p:spPr>
            <a:xfrm>
              <a:off x="571818" y="6410174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" name="pl41"/>
            <p:cNvSpPr/>
            <p:nvPr/>
          </p:nvSpPr>
          <p:spPr>
            <a:xfrm>
              <a:off x="2697466" y="6410174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" name="pl42"/>
            <p:cNvSpPr/>
            <p:nvPr/>
          </p:nvSpPr>
          <p:spPr>
            <a:xfrm>
              <a:off x="4823114" y="6410174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" name="pl43"/>
            <p:cNvSpPr/>
            <p:nvPr/>
          </p:nvSpPr>
          <p:spPr>
            <a:xfrm>
              <a:off x="6948762" y="6410174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" name="pl44"/>
            <p:cNvSpPr/>
            <p:nvPr/>
          </p:nvSpPr>
          <p:spPr>
            <a:xfrm>
              <a:off x="9074410" y="6410174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" name="tx45"/>
            <p:cNvSpPr/>
            <p:nvPr/>
          </p:nvSpPr>
          <p:spPr>
            <a:xfrm>
              <a:off x="447460" y="6472804"/>
              <a:ext cx="248716" cy="940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Times New Roman"/>
                  <a:cs typeface="Times New Roman"/>
                </a:rPr>
                <a:t>0.00</a:t>
              </a:r>
            </a:p>
          </p:txBody>
        </p:sp>
        <p:sp>
          <p:nvSpPr>
            <p:cNvPr id="46" name="tx46"/>
            <p:cNvSpPr/>
            <p:nvPr/>
          </p:nvSpPr>
          <p:spPr>
            <a:xfrm>
              <a:off x="2573108" y="6472804"/>
              <a:ext cx="248716" cy="940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Times New Roman"/>
                  <a:cs typeface="Times New Roman"/>
                </a:rPr>
                <a:t>0.25</a:t>
              </a:r>
            </a:p>
          </p:txBody>
        </p:sp>
        <p:sp>
          <p:nvSpPr>
            <p:cNvPr id="47" name="tx47"/>
            <p:cNvSpPr/>
            <p:nvPr/>
          </p:nvSpPr>
          <p:spPr>
            <a:xfrm>
              <a:off x="4698756" y="6472804"/>
              <a:ext cx="248716" cy="940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Times New Roman"/>
                  <a:cs typeface="Times New Roman"/>
                </a:rPr>
                <a:t>0.50</a:t>
              </a:r>
            </a:p>
          </p:txBody>
        </p:sp>
        <p:sp>
          <p:nvSpPr>
            <p:cNvPr id="48" name="tx48"/>
            <p:cNvSpPr/>
            <p:nvPr/>
          </p:nvSpPr>
          <p:spPr>
            <a:xfrm>
              <a:off x="6824404" y="6472804"/>
              <a:ext cx="248716" cy="940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Times New Roman"/>
                  <a:cs typeface="Times New Roman"/>
                </a:rPr>
                <a:t>0.75</a:t>
              </a:r>
            </a:p>
          </p:txBody>
        </p:sp>
        <p:sp>
          <p:nvSpPr>
            <p:cNvPr id="49" name="tx49"/>
            <p:cNvSpPr/>
            <p:nvPr/>
          </p:nvSpPr>
          <p:spPr>
            <a:xfrm>
              <a:off x="8950052" y="6472804"/>
              <a:ext cx="248716" cy="940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Times New Roman"/>
                  <a:cs typeface="Times New Roman"/>
                </a:rPr>
                <a:t>1.00</a:t>
              </a:r>
            </a:p>
          </p:txBody>
        </p:sp>
        <p:sp>
          <p:nvSpPr>
            <p:cNvPr id="50" name="tx50"/>
            <p:cNvSpPr/>
            <p:nvPr/>
          </p:nvSpPr>
          <p:spPr>
            <a:xfrm>
              <a:off x="4334459" y="6632322"/>
              <a:ext cx="977310" cy="11768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1 - specificity</a:t>
              </a:r>
            </a:p>
          </p:txBody>
        </p:sp>
        <p:sp>
          <p:nvSpPr>
            <p:cNvPr id="51" name="tx51"/>
            <p:cNvSpPr/>
            <p:nvPr/>
          </p:nvSpPr>
          <p:spPr>
            <a:xfrm rot="-5400000">
              <a:off x="-251822" y="3181039"/>
              <a:ext cx="760506" cy="11768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Sensitivity</a:t>
              </a:r>
            </a:p>
          </p:txBody>
        </p:sp>
        <p:sp>
          <p:nvSpPr>
            <p:cNvPr id="52" name="rc52"/>
            <p:cNvSpPr/>
            <p:nvPr/>
          </p:nvSpPr>
          <p:spPr>
            <a:xfrm>
              <a:off x="7217504" y="4633556"/>
              <a:ext cx="1163034" cy="101700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3" name="rc53"/>
            <p:cNvSpPr/>
            <p:nvPr/>
          </p:nvSpPr>
          <p:spPr>
            <a:xfrm>
              <a:off x="7287093" y="4703145"/>
              <a:ext cx="219455" cy="21945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4" name="pl54"/>
            <p:cNvSpPr/>
            <p:nvPr/>
          </p:nvSpPr>
          <p:spPr>
            <a:xfrm>
              <a:off x="7309039" y="4812873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13550" cap="flat">
              <a:solidFill>
                <a:srgbClr val="F8766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" name="rc55"/>
            <p:cNvSpPr/>
            <p:nvPr/>
          </p:nvSpPr>
          <p:spPr>
            <a:xfrm>
              <a:off x="7287093" y="4922601"/>
              <a:ext cx="219455" cy="21945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6" name="pl56"/>
            <p:cNvSpPr/>
            <p:nvPr/>
          </p:nvSpPr>
          <p:spPr>
            <a:xfrm>
              <a:off x="7309039" y="5032329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13550" cap="flat">
              <a:solidFill>
                <a:srgbClr val="7CAE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" name="rc57"/>
            <p:cNvSpPr/>
            <p:nvPr/>
          </p:nvSpPr>
          <p:spPr>
            <a:xfrm>
              <a:off x="7287093" y="5142057"/>
              <a:ext cx="219455" cy="21945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8" name="pl58"/>
            <p:cNvSpPr/>
            <p:nvPr/>
          </p:nvSpPr>
          <p:spPr>
            <a:xfrm>
              <a:off x="7309039" y="5251785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13550" cap="flat">
              <a:solidFill>
                <a:srgbClr val="00BFC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" name="rc59"/>
            <p:cNvSpPr/>
            <p:nvPr/>
          </p:nvSpPr>
          <p:spPr>
            <a:xfrm>
              <a:off x="7287093" y="5361513"/>
              <a:ext cx="219455" cy="21945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0" name="pl60"/>
            <p:cNvSpPr/>
            <p:nvPr/>
          </p:nvSpPr>
          <p:spPr>
            <a:xfrm>
              <a:off x="7309039" y="5471241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13550" cap="flat">
              <a:solidFill>
                <a:srgbClr val="C77C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" name="tx61"/>
            <p:cNvSpPr/>
            <p:nvPr/>
          </p:nvSpPr>
          <p:spPr>
            <a:xfrm>
              <a:off x="7576138" y="4765827"/>
              <a:ext cx="363656" cy="940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+ TyG</a:t>
              </a:r>
            </a:p>
          </p:txBody>
        </p:sp>
        <p:sp>
          <p:nvSpPr>
            <p:cNvPr id="62" name="tx62"/>
            <p:cNvSpPr/>
            <p:nvPr/>
          </p:nvSpPr>
          <p:spPr>
            <a:xfrm>
              <a:off x="7576138" y="4985283"/>
              <a:ext cx="734811" cy="940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+ TyG-ABSI</a:t>
              </a:r>
            </a:p>
          </p:txBody>
        </p:sp>
        <p:sp>
          <p:nvSpPr>
            <p:cNvPr id="63" name="tx63"/>
            <p:cNvSpPr/>
            <p:nvPr/>
          </p:nvSpPr>
          <p:spPr>
            <a:xfrm>
              <a:off x="7576138" y="5204739"/>
              <a:ext cx="336773" cy="940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+ AIP</a:t>
              </a:r>
            </a:p>
          </p:txBody>
        </p:sp>
        <p:sp>
          <p:nvSpPr>
            <p:cNvPr id="64" name="tx64"/>
            <p:cNvSpPr/>
            <p:nvPr/>
          </p:nvSpPr>
          <p:spPr>
            <a:xfrm>
              <a:off x="7576138" y="5424195"/>
              <a:ext cx="684154" cy="940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+ METS-IR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 rot="0">
            <a:off x="0" y="0"/>
            <a:ext cx="9144000" cy="6858000"/>
            <a:chOff x="0" y="0"/>
            <a:chExt cx="9144000" cy="6858000"/>
          </a:xfrm>
        </p:grpSpPr>
        <p:sp>
          <p:nvSpPr>
            <p:cNvPr id="3" name="rc3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rc4"/>
            <p:cNvSpPr/>
            <p:nvPr/>
          </p:nvSpPr>
          <p:spPr>
            <a:xfrm>
              <a:off x="0" y="0"/>
              <a:ext cx="9143999" cy="6858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355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rc5"/>
            <p:cNvSpPr/>
            <p:nvPr/>
          </p:nvSpPr>
          <p:spPr>
            <a:xfrm>
              <a:off x="571818" y="69589"/>
              <a:ext cx="8502592" cy="634058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571818" y="5617600"/>
              <a:ext cx="8502592" cy="0"/>
            </a:xfrm>
            <a:custGeom>
              <a:avLst/>
              <a:pathLst>
                <a:path w="8502592" h="0">
                  <a:moveTo>
                    <a:pt x="0" y="0"/>
                  </a:moveTo>
                  <a:lnTo>
                    <a:pt x="8502592" y="0"/>
                  </a:lnTo>
                  <a:lnTo>
                    <a:pt x="8502592" y="0"/>
                  </a:lnTo>
                </a:path>
              </a:pathLst>
            </a:custGeom>
            <a:ln w="677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571818" y="4032454"/>
              <a:ext cx="8502592" cy="0"/>
            </a:xfrm>
            <a:custGeom>
              <a:avLst/>
              <a:pathLst>
                <a:path w="8502592" h="0">
                  <a:moveTo>
                    <a:pt x="0" y="0"/>
                  </a:moveTo>
                  <a:lnTo>
                    <a:pt x="8502592" y="0"/>
                  </a:lnTo>
                  <a:lnTo>
                    <a:pt x="8502592" y="0"/>
                  </a:lnTo>
                </a:path>
              </a:pathLst>
            </a:custGeom>
            <a:ln w="677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571818" y="2447308"/>
              <a:ext cx="8502592" cy="0"/>
            </a:xfrm>
            <a:custGeom>
              <a:avLst/>
              <a:pathLst>
                <a:path w="8502592" h="0">
                  <a:moveTo>
                    <a:pt x="0" y="0"/>
                  </a:moveTo>
                  <a:lnTo>
                    <a:pt x="8502592" y="0"/>
                  </a:lnTo>
                  <a:lnTo>
                    <a:pt x="8502592" y="0"/>
                  </a:lnTo>
                </a:path>
              </a:pathLst>
            </a:custGeom>
            <a:ln w="677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571818" y="862162"/>
              <a:ext cx="8502592" cy="0"/>
            </a:xfrm>
            <a:custGeom>
              <a:avLst/>
              <a:pathLst>
                <a:path w="8502592" h="0">
                  <a:moveTo>
                    <a:pt x="0" y="0"/>
                  </a:moveTo>
                  <a:lnTo>
                    <a:pt x="8502592" y="0"/>
                  </a:lnTo>
                  <a:lnTo>
                    <a:pt x="8502592" y="0"/>
                  </a:lnTo>
                </a:path>
              </a:pathLst>
            </a:custGeom>
            <a:ln w="677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1634642" y="69589"/>
              <a:ext cx="0" cy="6340585"/>
            </a:xfrm>
            <a:custGeom>
              <a:avLst/>
              <a:pathLst>
                <a:path w="0" h="6340585">
                  <a:moveTo>
                    <a:pt x="0" y="634058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3760290" y="69589"/>
              <a:ext cx="0" cy="6340585"/>
            </a:xfrm>
            <a:custGeom>
              <a:avLst/>
              <a:pathLst>
                <a:path w="0" h="6340585">
                  <a:moveTo>
                    <a:pt x="0" y="634058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5885938" y="69589"/>
              <a:ext cx="0" cy="6340585"/>
            </a:xfrm>
            <a:custGeom>
              <a:avLst/>
              <a:pathLst>
                <a:path w="0" h="6340585">
                  <a:moveTo>
                    <a:pt x="0" y="634058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8011586" y="69589"/>
              <a:ext cx="0" cy="6340585"/>
            </a:xfrm>
            <a:custGeom>
              <a:avLst/>
              <a:pathLst>
                <a:path w="0" h="6340585">
                  <a:moveTo>
                    <a:pt x="0" y="634058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571818" y="6410174"/>
              <a:ext cx="8502592" cy="0"/>
            </a:xfrm>
            <a:custGeom>
              <a:avLst/>
              <a:pathLst>
                <a:path w="8502592" h="0">
                  <a:moveTo>
                    <a:pt x="0" y="0"/>
                  </a:moveTo>
                  <a:lnTo>
                    <a:pt x="8502592" y="0"/>
                  </a:lnTo>
                  <a:lnTo>
                    <a:pt x="8502592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571818" y="4825027"/>
              <a:ext cx="8502592" cy="0"/>
            </a:xfrm>
            <a:custGeom>
              <a:avLst/>
              <a:pathLst>
                <a:path w="8502592" h="0">
                  <a:moveTo>
                    <a:pt x="0" y="0"/>
                  </a:moveTo>
                  <a:lnTo>
                    <a:pt x="8502592" y="0"/>
                  </a:lnTo>
                  <a:lnTo>
                    <a:pt x="8502592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571818" y="3239881"/>
              <a:ext cx="8502592" cy="0"/>
            </a:xfrm>
            <a:custGeom>
              <a:avLst/>
              <a:pathLst>
                <a:path w="8502592" h="0">
                  <a:moveTo>
                    <a:pt x="0" y="0"/>
                  </a:moveTo>
                  <a:lnTo>
                    <a:pt x="8502592" y="0"/>
                  </a:lnTo>
                  <a:lnTo>
                    <a:pt x="8502592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571818" y="1654735"/>
              <a:ext cx="8502592" cy="0"/>
            </a:xfrm>
            <a:custGeom>
              <a:avLst/>
              <a:pathLst>
                <a:path w="8502592" h="0">
                  <a:moveTo>
                    <a:pt x="0" y="0"/>
                  </a:moveTo>
                  <a:lnTo>
                    <a:pt x="8502592" y="0"/>
                  </a:lnTo>
                  <a:lnTo>
                    <a:pt x="8502592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571818" y="69589"/>
              <a:ext cx="8502592" cy="0"/>
            </a:xfrm>
            <a:custGeom>
              <a:avLst/>
              <a:pathLst>
                <a:path w="8502592" h="0">
                  <a:moveTo>
                    <a:pt x="0" y="0"/>
                  </a:moveTo>
                  <a:lnTo>
                    <a:pt x="8502592" y="0"/>
                  </a:lnTo>
                  <a:lnTo>
                    <a:pt x="8502592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571818" y="69589"/>
              <a:ext cx="0" cy="6340585"/>
            </a:xfrm>
            <a:custGeom>
              <a:avLst/>
              <a:pathLst>
                <a:path w="0" h="6340585">
                  <a:moveTo>
                    <a:pt x="0" y="634058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2697466" y="69589"/>
              <a:ext cx="0" cy="6340585"/>
            </a:xfrm>
            <a:custGeom>
              <a:avLst/>
              <a:pathLst>
                <a:path w="0" h="6340585">
                  <a:moveTo>
                    <a:pt x="0" y="634058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4823114" y="69589"/>
              <a:ext cx="0" cy="6340585"/>
            </a:xfrm>
            <a:custGeom>
              <a:avLst/>
              <a:pathLst>
                <a:path w="0" h="6340585">
                  <a:moveTo>
                    <a:pt x="0" y="634058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6948762" y="69589"/>
              <a:ext cx="0" cy="6340585"/>
            </a:xfrm>
            <a:custGeom>
              <a:avLst/>
              <a:pathLst>
                <a:path w="0" h="6340585">
                  <a:moveTo>
                    <a:pt x="0" y="634058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9074410" y="69589"/>
              <a:ext cx="0" cy="6340585"/>
            </a:xfrm>
            <a:custGeom>
              <a:avLst/>
              <a:pathLst>
                <a:path w="0" h="6340585">
                  <a:moveTo>
                    <a:pt x="0" y="634058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571818" y="69589"/>
              <a:ext cx="8502592" cy="6340585"/>
            </a:xfrm>
            <a:custGeom>
              <a:avLst/>
              <a:pathLst>
                <a:path w="8502592" h="6340585">
                  <a:moveTo>
                    <a:pt x="0" y="6340585"/>
                  </a:moveTo>
                  <a:lnTo>
                    <a:pt x="2237172" y="4323846"/>
                  </a:lnTo>
                  <a:lnTo>
                    <a:pt x="4388353" y="2417974"/>
                  </a:lnTo>
                  <a:lnTo>
                    <a:pt x="6471320" y="902781"/>
                  </a:lnTo>
                  <a:lnTo>
                    <a:pt x="8502592" y="0"/>
                  </a:lnTo>
                  <a:lnTo>
                    <a:pt x="8502592" y="0"/>
                  </a:lnTo>
                  <a:lnTo>
                    <a:pt x="8502592" y="0"/>
                  </a:lnTo>
                </a:path>
              </a:pathLst>
            </a:custGeom>
            <a:ln w="13550" cap="flat">
              <a:solidFill>
                <a:srgbClr val="F8766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571818" y="69589"/>
              <a:ext cx="8502592" cy="6340585"/>
            </a:xfrm>
            <a:custGeom>
              <a:avLst/>
              <a:pathLst>
                <a:path w="8502592" h="6340585">
                  <a:moveTo>
                    <a:pt x="0" y="6340585"/>
                  </a:moveTo>
                  <a:lnTo>
                    <a:pt x="2157485" y="3431623"/>
                  </a:lnTo>
                  <a:lnTo>
                    <a:pt x="4377762" y="1430723"/>
                  </a:lnTo>
                  <a:lnTo>
                    <a:pt x="6555925" y="395956"/>
                  </a:lnTo>
                  <a:lnTo>
                    <a:pt x="8502592" y="0"/>
                  </a:lnTo>
                  <a:lnTo>
                    <a:pt x="8502592" y="0"/>
                  </a:lnTo>
                  <a:lnTo>
                    <a:pt x="8502592" y="0"/>
                  </a:lnTo>
                </a:path>
              </a:pathLst>
            </a:custGeom>
            <a:ln w="13550" cap="flat">
              <a:solidFill>
                <a:srgbClr val="7CAE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571818" y="69589"/>
              <a:ext cx="8502592" cy="6340585"/>
            </a:xfrm>
            <a:custGeom>
              <a:avLst/>
              <a:pathLst>
                <a:path w="8502592" h="6340585">
                  <a:moveTo>
                    <a:pt x="0" y="6340585"/>
                  </a:moveTo>
                  <a:lnTo>
                    <a:pt x="2228094" y="4360802"/>
                  </a:lnTo>
                  <a:lnTo>
                    <a:pt x="4348005" y="2513004"/>
                  </a:lnTo>
                  <a:lnTo>
                    <a:pt x="6426559" y="960854"/>
                  </a:lnTo>
                  <a:lnTo>
                    <a:pt x="8502592" y="0"/>
                  </a:lnTo>
                  <a:lnTo>
                    <a:pt x="8502592" y="0"/>
                  </a:lnTo>
                  <a:lnTo>
                    <a:pt x="8502592" y="0"/>
                  </a:lnTo>
                </a:path>
              </a:pathLst>
            </a:custGeom>
            <a:ln w="13550" cap="flat">
              <a:solidFill>
                <a:srgbClr val="00BFC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571818" y="69589"/>
              <a:ext cx="8502592" cy="6340585"/>
            </a:xfrm>
            <a:custGeom>
              <a:avLst/>
              <a:pathLst>
                <a:path w="8502592" h="6340585">
                  <a:moveTo>
                    <a:pt x="0" y="6340585"/>
                  </a:moveTo>
                  <a:lnTo>
                    <a:pt x="2216998" y="3991242"/>
                  </a:lnTo>
                  <a:lnTo>
                    <a:pt x="4416723" y="1974503"/>
                  </a:lnTo>
                  <a:lnTo>
                    <a:pt x="6567525" y="580736"/>
                  </a:lnTo>
                  <a:lnTo>
                    <a:pt x="8502592" y="0"/>
                  </a:lnTo>
                  <a:lnTo>
                    <a:pt x="8502592" y="0"/>
                  </a:lnTo>
                  <a:lnTo>
                    <a:pt x="8502592" y="0"/>
                  </a:lnTo>
                </a:path>
              </a:pathLst>
            </a:custGeom>
            <a:ln w="13550" cap="flat">
              <a:solidFill>
                <a:srgbClr val="C77C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l28"/>
            <p:cNvSpPr/>
            <p:nvPr/>
          </p:nvSpPr>
          <p:spPr>
            <a:xfrm>
              <a:off x="571818" y="69589"/>
              <a:ext cx="8502592" cy="6340585"/>
            </a:xfrm>
            <a:custGeom>
              <a:avLst/>
              <a:pathLst>
                <a:path w="8502592" h="6340585">
                  <a:moveTo>
                    <a:pt x="0" y="6340585"/>
                  </a:moveTo>
                  <a:lnTo>
                    <a:pt x="8502592" y="0"/>
                  </a:lnTo>
                  <a:lnTo>
                    <a:pt x="8502592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29" name="rc29"/>
            <p:cNvSpPr/>
            <p:nvPr/>
          </p:nvSpPr>
          <p:spPr>
            <a:xfrm>
              <a:off x="571818" y="69589"/>
              <a:ext cx="8502592" cy="6340585"/>
            </a:xfrm>
            <a:prstGeom prst="rect">
              <a:avLst/>
            </a:prstGeom>
            <a:ln w="1626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tx30"/>
            <p:cNvSpPr/>
            <p:nvPr/>
          </p:nvSpPr>
          <p:spPr>
            <a:xfrm>
              <a:off x="260471" y="6363128"/>
              <a:ext cx="248716" cy="940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Times New Roman"/>
                  <a:cs typeface="Times New Roman"/>
                </a:rPr>
                <a:t>0.00</a:t>
              </a:r>
            </a:p>
          </p:txBody>
        </p:sp>
        <p:sp>
          <p:nvSpPr>
            <p:cNvPr id="31" name="tx31"/>
            <p:cNvSpPr/>
            <p:nvPr/>
          </p:nvSpPr>
          <p:spPr>
            <a:xfrm>
              <a:off x="260471" y="4777981"/>
              <a:ext cx="248716" cy="940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Times New Roman"/>
                  <a:cs typeface="Times New Roman"/>
                </a:rPr>
                <a:t>0.25</a:t>
              </a:r>
            </a:p>
          </p:txBody>
        </p:sp>
        <p:sp>
          <p:nvSpPr>
            <p:cNvPr id="32" name="tx32"/>
            <p:cNvSpPr/>
            <p:nvPr/>
          </p:nvSpPr>
          <p:spPr>
            <a:xfrm>
              <a:off x="260471" y="3192835"/>
              <a:ext cx="248716" cy="940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Times New Roman"/>
                  <a:cs typeface="Times New Roman"/>
                </a:rPr>
                <a:t>0.50</a:t>
              </a:r>
            </a:p>
          </p:txBody>
        </p:sp>
        <p:sp>
          <p:nvSpPr>
            <p:cNvPr id="33" name="tx33"/>
            <p:cNvSpPr/>
            <p:nvPr/>
          </p:nvSpPr>
          <p:spPr>
            <a:xfrm>
              <a:off x="260471" y="1607689"/>
              <a:ext cx="248716" cy="940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Times New Roman"/>
                  <a:cs typeface="Times New Roman"/>
                </a:rPr>
                <a:t>0.75</a:t>
              </a:r>
            </a:p>
          </p:txBody>
        </p:sp>
        <p:sp>
          <p:nvSpPr>
            <p:cNvPr id="34" name="tx34"/>
            <p:cNvSpPr/>
            <p:nvPr/>
          </p:nvSpPr>
          <p:spPr>
            <a:xfrm>
              <a:off x="260471" y="22543"/>
              <a:ext cx="248716" cy="940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Times New Roman"/>
                  <a:cs typeface="Times New Roman"/>
                </a:rPr>
                <a:t>1.00</a:t>
              </a:r>
            </a:p>
          </p:txBody>
        </p:sp>
        <p:sp>
          <p:nvSpPr>
            <p:cNvPr id="35" name="pl35"/>
            <p:cNvSpPr/>
            <p:nvPr/>
          </p:nvSpPr>
          <p:spPr>
            <a:xfrm>
              <a:off x="537024" y="6410174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l36"/>
            <p:cNvSpPr/>
            <p:nvPr/>
          </p:nvSpPr>
          <p:spPr>
            <a:xfrm>
              <a:off x="537024" y="4825027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" name="pl37"/>
            <p:cNvSpPr/>
            <p:nvPr/>
          </p:nvSpPr>
          <p:spPr>
            <a:xfrm>
              <a:off x="537024" y="3239881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" name="pl38"/>
            <p:cNvSpPr/>
            <p:nvPr/>
          </p:nvSpPr>
          <p:spPr>
            <a:xfrm>
              <a:off x="537024" y="1654735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" name="pl39"/>
            <p:cNvSpPr/>
            <p:nvPr/>
          </p:nvSpPr>
          <p:spPr>
            <a:xfrm>
              <a:off x="537024" y="69589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" name="pl40"/>
            <p:cNvSpPr/>
            <p:nvPr/>
          </p:nvSpPr>
          <p:spPr>
            <a:xfrm>
              <a:off x="571818" y="6410174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" name="pl41"/>
            <p:cNvSpPr/>
            <p:nvPr/>
          </p:nvSpPr>
          <p:spPr>
            <a:xfrm>
              <a:off x="2697466" y="6410174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" name="pl42"/>
            <p:cNvSpPr/>
            <p:nvPr/>
          </p:nvSpPr>
          <p:spPr>
            <a:xfrm>
              <a:off x="4823114" y="6410174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" name="pl43"/>
            <p:cNvSpPr/>
            <p:nvPr/>
          </p:nvSpPr>
          <p:spPr>
            <a:xfrm>
              <a:off x="6948762" y="6410174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" name="pl44"/>
            <p:cNvSpPr/>
            <p:nvPr/>
          </p:nvSpPr>
          <p:spPr>
            <a:xfrm>
              <a:off x="9074410" y="6410174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" name="tx45"/>
            <p:cNvSpPr/>
            <p:nvPr/>
          </p:nvSpPr>
          <p:spPr>
            <a:xfrm>
              <a:off x="447460" y="6472804"/>
              <a:ext cx="248716" cy="940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Times New Roman"/>
                  <a:cs typeface="Times New Roman"/>
                </a:rPr>
                <a:t>0.00</a:t>
              </a:r>
            </a:p>
          </p:txBody>
        </p:sp>
        <p:sp>
          <p:nvSpPr>
            <p:cNvPr id="46" name="tx46"/>
            <p:cNvSpPr/>
            <p:nvPr/>
          </p:nvSpPr>
          <p:spPr>
            <a:xfrm>
              <a:off x="2573108" y="6472804"/>
              <a:ext cx="248716" cy="940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Times New Roman"/>
                  <a:cs typeface="Times New Roman"/>
                </a:rPr>
                <a:t>0.25</a:t>
              </a:r>
            </a:p>
          </p:txBody>
        </p:sp>
        <p:sp>
          <p:nvSpPr>
            <p:cNvPr id="47" name="tx47"/>
            <p:cNvSpPr/>
            <p:nvPr/>
          </p:nvSpPr>
          <p:spPr>
            <a:xfrm>
              <a:off x="4698756" y="6472804"/>
              <a:ext cx="248716" cy="940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Times New Roman"/>
                  <a:cs typeface="Times New Roman"/>
                </a:rPr>
                <a:t>0.50</a:t>
              </a:r>
            </a:p>
          </p:txBody>
        </p:sp>
        <p:sp>
          <p:nvSpPr>
            <p:cNvPr id="48" name="tx48"/>
            <p:cNvSpPr/>
            <p:nvPr/>
          </p:nvSpPr>
          <p:spPr>
            <a:xfrm>
              <a:off x="6824404" y="6472804"/>
              <a:ext cx="248716" cy="940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Times New Roman"/>
                  <a:cs typeface="Times New Roman"/>
                </a:rPr>
                <a:t>0.75</a:t>
              </a:r>
            </a:p>
          </p:txBody>
        </p:sp>
        <p:sp>
          <p:nvSpPr>
            <p:cNvPr id="49" name="tx49"/>
            <p:cNvSpPr/>
            <p:nvPr/>
          </p:nvSpPr>
          <p:spPr>
            <a:xfrm>
              <a:off x="8950052" y="6472804"/>
              <a:ext cx="248716" cy="940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Times New Roman"/>
                  <a:cs typeface="Times New Roman"/>
                </a:rPr>
                <a:t>1.00</a:t>
              </a:r>
            </a:p>
          </p:txBody>
        </p:sp>
        <p:sp>
          <p:nvSpPr>
            <p:cNvPr id="50" name="tx50"/>
            <p:cNvSpPr/>
            <p:nvPr/>
          </p:nvSpPr>
          <p:spPr>
            <a:xfrm>
              <a:off x="4334459" y="6632322"/>
              <a:ext cx="977310" cy="11768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1 - specificity</a:t>
              </a:r>
            </a:p>
          </p:txBody>
        </p:sp>
        <p:sp>
          <p:nvSpPr>
            <p:cNvPr id="51" name="tx51"/>
            <p:cNvSpPr/>
            <p:nvPr/>
          </p:nvSpPr>
          <p:spPr>
            <a:xfrm rot="-5400000">
              <a:off x="-251822" y="3181039"/>
              <a:ext cx="760506" cy="11768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Sensitivity</a:t>
              </a:r>
            </a:p>
          </p:txBody>
        </p:sp>
        <p:sp>
          <p:nvSpPr>
            <p:cNvPr id="52" name="rc52"/>
            <p:cNvSpPr/>
            <p:nvPr/>
          </p:nvSpPr>
          <p:spPr>
            <a:xfrm>
              <a:off x="7217504" y="4633556"/>
              <a:ext cx="1163034" cy="101700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3" name="rc53"/>
            <p:cNvSpPr/>
            <p:nvPr/>
          </p:nvSpPr>
          <p:spPr>
            <a:xfrm>
              <a:off x="7287093" y="4703145"/>
              <a:ext cx="219455" cy="21945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4" name="pl54"/>
            <p:cNvSpPr/>
            <p:nvPr/>
          </p:nvSpPr>
          <p:spPr>
            <a:xfrm>
              <a:off x="7309039" y="4812873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13550" cap="flat">
              <a:solidFill>
                <a:srgbClr val="F8766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" name="rc55"/>
            <p:cNvSpPr/>
            <p:nvPr/>
          </p:nvSpPr>
          <p:spPr>
            <a:xfrm>
              <a:off x="7287093" y="4922601"/>
              <a:ext cx="219455" cy="21945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6" name="pl56"/>
            <p:cNvSpPr/>
            <p:nvPr/>
          </p:nvSpPr>
          <p:spPr>
            <a:xfrm>
              <a:off x="7309039" y="5032329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13550" cap="flat">
              <a:solidFill>
                <a:srgbClr val="7CAE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" name="rc57"/>
            <p:cNvSpPr/>
            <p:nvPr/>
          </p:nvSpPr>
          <p:spPr>
            <a:xfrm>
              <a:off x="7287093" y="5142057"/>
              <a:ext cx="219455" cy="21945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8" name="pl58"/>
            <p:cNvSpPr/>
            <p:nvPr/>
          </p:nvSpPr>
          <p:spPr>
            <a:xfrm>
              <a:off x="7309039" y="5251785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13550" cap="flat">
              <a:solidFill>
                <a:srgbClr val="00BFC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" name="rc59"/>
            <p:cNvSpPr/>
            <p:nvPr/>
          </p:nvSpPr>
          <p:spPr>
            <a:xfrm>
              <a:off x="7287093" y="5361513"/>
              <a:ext cx="219455" cy="21945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0" name="pl60"/>
            <p:cNvSpPr/>
            <p:nvPr/>
          </p:nvSpPr>
          <p:spPr>
            <a:xfrm>
              <a:off x="7309039" y="5471241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13550" cap="flat">
              <a:solidFill>
                <a:srgbClr val="C77C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" name="tx61"/>
            <p:cNvSpPr/>
            <p:nvPr/>
          </p:nvSpPr>
          <p:spPr>
            <a:xfrm>
              <a:off x="7576138" y="4765827"/>
              <a:ext cx="363656" cy="940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+ TyG</a:t>
              </a:r>
            </a:p>
          </p:txBody>
        </p:sp>
        <p:sp>
          <p:nvSpPr>
            <p:cNvPr id="62" name="tx62"/>
            <p:cNvSpPr/>
            <p:nvPr/>
          </p:nvSpPr>
          <p:spPr>
            <a:xfrm>
              <a:off x="7576138" y="4985283"/>
              <a:ext cx="734811" cy="940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+ TyG-ABSI</a:t>
              </a:r>
            </a:p>
          </p:txBody>
        </p:sp>
        <p:sp>
          <p:nvSpPr>
            <p:cNvPr id="63" name="tx63"/>
            <p:cNvSpPr/>
            <p:nvPr/>
          </p:nvSpPr>
          <p:spPr>
            <a:xfrm>
              <a:off x="7576138" y="5204739"/>
              <a:ext cx="336773" cy="940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+ AIP</a:t>
              </a:r>
            </a:p>
          </p:txBody>
        </p:sp>
        <p:sp>
          <p:nvSpPr>
            <p:cNvPr id="64" name="tx64"/>
            <p:cNvSpPr/>
            <p:nvPr/>
          </p:nvSpPr>
          <p:spPr>
            <a:xfrm>
              <a:off x="7576138" y="5424195"/>
              <a:ext cx="684154" cy="940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+ METS-IR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/>
  <cp:revision>3</cp:revision>
  <dcterms:created xsi:type="dcterms:W3CDTF">2017-02-13T16:18:36Z</dcterms:created>
  <dcterms:modified xsi:type="dcterms:W3CDTF">2026-02-05T11:13:07Z</dcterms:modified>
  <cp:category/>
</cp:coreProperties>
</file>